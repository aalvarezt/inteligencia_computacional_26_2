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0" r:id="rId3"/>
    <p:sldId id="260" r:id="rId4"/>
    <p:sldId id="309" r:id="rId5"/>
    <p:sldId id="326" r:id="rId6"/>
    <p:sldId id="327" r:id="rId7"/>
    <p:sldId id="328" r:id="rId8"/>
    <p:sldId id="329" r:id="rId9"/>
    <p:sldId id="330" r:id="rId10"/>
    <p:sldId id="332" r:id="rId11"/>
    <p:sldId id="336" r:id="rId12"/>
    <p:sldId id="335" r:id="rId13"/>
    <p:sldId id="310" r:id="rId14"/>
    <p:sldId id="331" r:id="rId15"/>
    <p:sldId id="337" r:id="rId16"/>
    <p:sldId id="334" r:id="rId17"/>
    <p:sldId id="317" r:id="rId18"/>
    <p:sldId id="338" r:id="rId19"/>
    <p:sldId id="311" r:id="rId20"/>
    <p:sldId id="325" r:id="rId21"/>
    <p:sldId id="339" r:id="rId22"/>
    <p:sldId id="340" r:id="rId23"/>
    <p:sldId id="342" r:id="rId24"/>
    <p:sldId id="343" r:id="rId25"/>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2" autoAdjust="0"/>
    <p:restoredTop sz="94660"/>
  </p:normalViewPr>
  <p:slideViewPr>
    <p:cSldViewPr snapToGrid="0">
      <p:cViewPr varScale="1">
        <p:scale>
          <a:sx n="90" d="100"/>
          <a:sy n="90" d="100"/>
        </p:scale>
        <p:origin x="48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DCF7A-C8E9-4898-84F4-F1B69C32CC71}" type="datetimeFigureOut">
              <a:rPr lang="es-419" smtClean="0"/>
              <a:t>24/8/2026</a:t>
            </a:fld>
            <a:endParaRPr lang="es-419"/>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s-419"/>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5E269-E267-4346-9250-480A9F8E7F9E}" type="slidenum">
              <a:rPr lang="es-419" smtClean="0"/>
              <a:t>‹Nº›</a:t>
            </a:fld>
            <a:endParaRPr lang="es-419"/>
          </a:p>
        </p:txBody>
      </p:sp>
    </p:spTree>
    <p:extLst>
      <p:ext uri="{BB962C8B-B14F-4D97-AF65-F5344CB8AC3E}">
        <p14:creationId xmlns:p14="http://schemas.microsoft.com/office/powerpoint/2010/main" val="1033026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FCB5E269-E267-4346-9250-480A9F8E7F9E}" type="slidenum">
              <a:rPr lang="es-419" smtClean="0"/>
              <a:t>20</a:t>
            </a:fld>
            <a:endParaRPr lang="es-419"/>
          </a:p>
        </p:txBody>
      </p:sp>
    </p:spTree>
    <p:extLst>
      <p:ext uri="{BB962C8B-B14F-4D97-AF65-F5344CB8AC3E}">
        <p14:creationId xmlns:p14="http://schemas.microsoft.com/office/powerpoint/2010/main" val="740541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847D9-2307-D1D5-E176-E8755C16FA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ECDBB0-6B9F-A588-F50A-44C414E717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17B95D-4266-E137-255B-FFB723841228}"/>
              </a:ext>
            </a:extLst>
          </p:cNvPr>
          <p:cNvSpPr>
            <a:spLocks noGrp="1"/>
          </p:cNvSpPr>
          <p:nvPr>
            <p:ph type="body" idx="1"/>
          </p:nvPr>
        </p:nvSpPr>
        <p:spPr/>
        <p:txBody>
          <a:bodyPr/>
          <a:lstStyle/>
          <a:p>
            <a:endParaRPr lang="es-PE" dirty="0"/>
          </a:p>
        </p:txBody>
      </p:sp>
      <p:sp>
        <p:nvSpPr>
          <p:cNvPr id="4" name="Marcador de número de diapositiva 3">
            <a:extLst>
              <a:ext uri="{FF2B5EF4-FFF2-40B4-BE49-F238E27FC236}">
                <a16:creationId xmlns:a16="http://schemas.microsoft.com/office/drawing/2014/main" id="{DA2C1811-237D-12AA-A2F4-93D5B6DA5CC2}"/>
              </a:ext>
            </a:extLst>
          </p:cNvPr>
          <p:cNvSpPr>
            <a:spLocks noGrp="1"/>
          </p:cNvSpPr>
          <p:nvPr>
            <p:ph type="sldNum" sz="quarter" idx="5"/>
          </p:nvPr>
        </p:nvSpPr>
        <p:spPr/>
        <p:txBody>
          <a:bodyPr/>
          <a:lstStyle/>
          <a:p>
            <a:fld id="{FCB5E269-E267-4346-9250-480A9F8E7F9E}" type="slidenum">
              <a:rPr lang="es-419" smtClean="0"/>
              <a:t>21</a:t>
            </a:fld>
            <a:endParaRPr lang="es-419"/>
          </a:p>
        </p:txBody>
      </p:sp>
    </p:spTree>
    <p:extLst>
      <p:ext uri="{BB962C8B-B14F-4D97-AF65-F5344CB8AC3E}">
        <p14:creationId xmlns:p14="http://schemas.microsoft.com/office/powerpoint/2010/main" val="2700107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F1DC1-09DE-1115-E5E8-3E3B3BE99B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FDFA1E-EBB7-5E7D-8568-3E03CFBC1C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B6D7F5-73E3-BC8D-6CFB-89F7FF08C3AA}"/>
              </a:ext>
            </a:extLst>
          </p:cNvPr>
          <p:cNvSpPr>
            <a:spLocks noGrp="1"/>
          </p:cNvSpPr>
          <p:nvPr>
            <p:ph type="body" idx="1"/>
          </p:nvPr>
        </p:nvSpPr>
        <p:spPr/>
        <p:txBody>
          <a:bodyPr/>
          <a:lstStyle/>
          <a:p>
            <a:endParaRPr lang="es-PE" dirty="0"/>
          </a:p>
        </p:txBody>
      </p:sp>
      <p:sp>
        <p:nvSpPr>
          <p:cNvPr id="4" name="Marcador de número de diapositiva 3">
            <a:extLst>
              <a:ext uri="{FF2B5EF4-FFF2-40B4-BE49-F238E27FC236}">
                <a16:creationId xmlns:a16="http://schemas.microsoft.com/office/drawing/2014/main" id="{687D957E-5450-B3F3-18E2-37EC3FA3ADC1}"/>
              </a:ext>
            </a:extLst>
          </p:cNvPr>
          <p:cNvSpPr>
            <a:spLocks noGrp="1"/>
          </p:cNvSpPr>
          <p:nvPr>
            <p:ph type="sldNum" sz="quarter" idx="5"/>
          </p:nvPr>
        </p:nvSpPr>
        <p:spPr/>
        <p:txBody>
          <a:bodyPr/>
          <a:lstStyle/>
          <a:p>
            <a:fld id="{FCB5E269-E267-4346-9250-480A9F8E7F9E}" type="slidenum">
              <a:rPr lang="es-419" smtClean="0"/>
              <a:t>22</a:t>
            </a:fld>
            <a:endParaRPr lang="es-419"/>
          </a:p>
        </p:txBody>
      </p:sp>
    </p:spTree>
    <p:extLst>
      <p:ext uri="{BB962C8B-B14F-4D97-AF65-F5344CB8AC3E}">
        <p14:creationId xmlns:p14="http://schemas.microsoft.com/office/powerpoint/2010/main" val="39266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2DD1D-0ECB-D0AA-2B91-C3C2F5E177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B774D7-FA60-C4C5-E738-24B1F74C56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69DD8B-B15D-816C-21D6-ABC6F69EC4BE}"/>
              </a:ext>
            </a:extLst>
          </p:cNvPr>
          <p:cNvSpPr>
            <a:spLocks noGrp="1"/>
          </p:cNvSpPr>
          <p:nvPr>
            <p:ph type="body" idx="1"/>
          </p:nvPr>
        </p:nvSpPr>
        <p:spPr/>
        <p:txBody>
          <a:bodyPr/>
          <a:lstStyle/>
          <a:p>
            <a:endParaRPr lang="es-PE" dirty="0"/>
          </a:p>
        </p:txBody>
      </p:sp>
      <p:sp>
        <p:nvSpPr>
          <p:cNvPr id="4" name="Marcador de número de diapositiva 3">
            <a:extLst>
              <a:ext uri="{FF2B5EF4-FFF2-40B4-BE49-F238E27FC236}">
                <a16:creationId xmlns:a16="http://schemas.microsoft.com/office/drawing/2014/main" id="{444BB3D6-03D7-34C9-F187-8C2693672BF9}"/>
              </a:ext>
            </a:extLst>
          </p:cNvPr>
          <p:cNvSpPr>
            <a:spLocks noGrp="1"/>
          </p:cNvSpPr>
          <p:nvPr>
            <p:ph type="sldNum" sz="quarter" idx="5"/>
          </p:nvPr>
        </p:nvSpPr>
        <p:spPr/>
        <p:txBody>
          <a:bodyPr/>
          <a:lstStyle/>
          <a:p>
            <a:fld id="{FCB5E269-E267-4346-9250-480A9F8E7F9E}" type="slidenum">
              <a:rPr lang="es-419" smtClean="0"/>
              <a:t>23</a:t>
            </a:fld>
            <a:endParaRPr lang="es-419"/>
          </a:p>
        </p:txBody>
      </p:sp>
    </p:spTree>
    <p:extLst>
      <p:ext uri="{BB962C8B-B14F-4D97-AF65-F5344CB8AC3E}">
        <p14:creationId xmlns:p14="http://schemas.microsoft.com/office/powerpoint/2010/main" val="1695486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C9A0A-8D50-9FA9-F83D-81F3CC58A6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72134D-049E-848D-83E1-51934F1A65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B11432-47C0-5FF0-2006-B3E5343CADA1}"/>
              </a:ext>
            </a:extLst>
          </p:cNvPr>
          <p:cNvSpPr>
            <a:spLocks noGrp="1"/>
          </p:cNvSpPr>
          <p:nvPr>
            <p:ph type="body" idx="1"/>
          </p:nvPr>
        </p:nvSpPr>
        <p:spPr/>
        <p:txBody>
          <a:bodyPr/>
          <a:lstStyle/>
          <a:p>
            <a:endParaRPr lang="es-PE" dirty="0"/>
          </a:p>
        </p:txBody>
      </p:sp>
      <p:sp>
        <p:nvSpPr>
          <p:cNvPr id="4" name="Marcador de número de diapositiva 3">
            <a:extLst>
              <a:ext uri="{FF2B5EF4-FFF2-40B4-BE49-F238E27FC236}">
                <a16:creationId xmlns:a16="http://schemas.microsoft.com/office/drawing/2014/main" id="{D9A6FE6A-39BA-8FBD-7149-7396E249174C}"/>
              </a:ext>
            </a:extLst>
          </p:cNvPr>
          <p:cNvSpPr>
            <a:spLocks noGrp="1"/>
          </p:cNvSpPr>
          <p:nvPr>
            <p:ph type="sldNum" sz="quarter" idx="5"/>
          </p:nvPr>
        </p:nvSpPr>
        <p:spPr/>
        <p:txBody>
          <a:bodyPr/>
          <a:lstStyle/>
          <a:p>
            <a:fld id="{FCB5E269-E267-4346-9250-480A9F8E7F9E}" type="slidenum">
              <a:rPr lang="es-419" smtClean="0"/>
              <a:t>24</a:t>
            </a:fld>
            <a:endParaRPr lang="es-419"/>
          </a:p>
        </p:txBody>
      </p:sp>
    </p:spTree>
    <p:extLst>
      <p:ext uri="{BB962C8B-B14F-4D97-AF65-F5344CB8AC3E}">
        <p14:creationId xmlns:p14="http://schemas.microsoft.com/office/powerpoint/2010/main" val="1379063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PE"/>
          </a:p>
        </p:txBody>
      </p:sp>
      <p:sp>
        <p:nvSpPr>
          <p:cNvPr id="4" name="Marcador de fecha 3"/>
          <p:cNvSpPr>
            <a:spLocks noGrp="1"/>
          </p:cNvSpPr>
          <p:nvPr>
            <p:ph type="dt" sz="half" idx="10"/>
          </p:nvPr>
        </p:nvSpPr>
        <p:spPr/>
        <p:txBody>
          <a:bodyPr/>
          <a:lstStyle/>
          <a:p>
            <a:fld id="{142A6B5B-02DC-4807-BE71-BD95710FF98F}" type="datetimeFigureOut">
              <a:rPr lang="es-PE" smtClean="0"/>
              <a:t>24/08/2026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310558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142A6B5B-02DC-4807-BE71-BD95710FF98F}" type="datetimeFigureOut">
              <a:rPr lang="es-PE" smtClean="0"/>
              <a:t>24/08/2026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330623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142A6B5B-02DC-4807-BE71-BD95710FF98F}" type="datetimeFigureOut">
              <a:rPr lang="es-PE" smtClean="0"/>
              <a:t>24/08/2026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1157837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142A6B5B-02DC-4807-BE71-BD95710FF98F}" type="datetimeFigureOut">
              <a:rPr lang="es-PE" smtClean="0"/>
              <a:t>24/08/2026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953324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142A6B5B-02DC-4807-BE71-BD95710FF98F}" type="datetimeFigureOut">
              <a:rPr lang="es-PE" smtClean="0"/>
              <a:t>24/08/2026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698847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142A6B5B-02DC-4807-BE71-BD95710FF98F}" type="datetimeFigureOut">
              <a:rPr lang="es-PE" smtClean="0"/>
              <a:t>24/08/2026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200823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42A6B5B-02DC-4807-BE71-BD95710FF98F}" type="datetimeFigureOut">
              <a:rPr lang="es-PE" smtClean="0"/>
              <a:t>24/08/2026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2068997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42A6B5B-02DC-4807-BE71-BD95710FF98F}" type="datetimeFigureOut">
              <a:rPr lang="es-PE" smtClean="0"/>
              <a:t>24/08/2026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309472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142A6B5B-02DC-4807-BE71-BD95710FF98F}" type="datetimeFigureOut">
              <a:rPr lang="es-PE" smtClean="0"/>
              <a:t>24/08/2026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3699687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142A6B5B-02DC-4807-BE71-BD95710FF98F}" type="datetimeFigureOut">
              <a:rPr lang="es-PE" smtClean="0"/>
              <a:t>24/08/2026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2411786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142A6B5B-02DC-4807-BE71-BD95710FF98F}" type="datetimeFigureOut">
              <a:rPr lang="es-PE" smtClean="0"/>
              <a:t>24/08/2026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BDA8A45E-81D5-43BE-9777-A2383F7897E9}" type="slidenum">
              <a:rPr lang="es-PE" smtClean="0"/>
              <a:t>‹Nº›</a:t>
            </a:fld>
            <a:endParaRPr lang="es-PE"/>
          </a:p>
        </p:txBody>
      </p:sp>
    </p:spTree>
    <p:extLst>
      <p:ext uri="{BB962C8B-B14F-4D97-AF65-F5344CB8AC3E}">
        <p14:creationId xmlns:p14="http://schemas.microsoft.com/office/powerpoint/2010/main" val="2162511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A6B5B-02DC-4807-BE71-BD95710FF98F}" type="datetimeFigureOut">
              <a:rPr lang="es-PE" smtClean="0"/>
              <a:t>24/08/2026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A8A45E-81D5-43BE-9777-A2383F7897E9}" type="slidenum">
              <a:rPr lang="es-PE" smtClean="0"/>
              <a:t>‹Nº›</a:t>
            </a:fld>
            <a:endParaRPr lang="es-PE"/>
          </a:p>
        </p:txBody>
      </p:sp>
    </p:spTree>
    <p:extLst>
      <p:ext uri="{BB962C8B-B14F-4D97-AF65-F5344CB8AC3E}">
        <p14:creationId xmlns:p14="http://schemas.microsoft.com/office/powerpoint/2010/main" val="3771291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oist.jp/news-center/photos/reinforcement-learning"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ixabay.com/pt/plano-de-fundo-verde-%C3%A1gua-onda-luz-623422/"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5000"/>
            <a:lum/>
            <a:extLst>
              <a:ext uri="{837473B0-CC2E-450A-ABE3-18F120FF3D39}">
                <a1611:picAttrSrcUrl xmlns:a1611="http://schemas.microsoft.com/office/drawing/2016/11/main" r:id="rId3"/>
              </a:ext>
            </a:extLst>
          </a:blip>
          <a:srcRect/>
          <a:stretch>
            <a:fillRect t="-7000" b="-7000"/>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b="1" dirty="0"/>
              <a:t>Mountain in a car  – Resumen</a:t>
            </a:r>
          </a:p>
        </p:txBody>
      </p:sp>
      <p:sp>
        <p:nvSpPr>
          <p:cNvPr id="3" name="Subtítulo 2"/>
          <p:cNvSpPr>
            <a:spLocks noGrp="1"/>
          </p:cNvSpPr>
          <p:nvPr>
            <p:ph type="subTitle" idx="1"/>
          </p:nvPr>
        </p:nvSpPr>
        <p:spPr/>
        <p:txBody>
          <a:bodyPr>
            <a:normAutofit/>
          </a:bodyPr>
          <a:lstStyle/>
          <a:p>
            <a:r>
              <a:rPr lang="es-PE" sz="2800" b="1" dirty="0"/>
              <a:t>Prof. </a:t>
            </a:r>
            <a:r>
              <a:rPr lang="es-PE" sz="2800" b="1" dirty="0" err="1"/>
              <a:t>Alvaro</a:t>
            </a:r>
            <a:r>
              <a:rPr lang="es-PE" sz="2800" b="1" dirty="0"/>
              <a:t> Talavera</a:t>
            </a:r>
          </a:p>
          <a:p>
            <a:endParaRPr lang="es-PE" sz="2800" b="1" dirty="0"/>
          </a:p>
          <a:p>
            <a:r>
              <a:rPr lang="es-PE" sz="2800" b="1" dirty="0"/>
              <a:t>Alumno: Arturo Alvarez de la Torre</a:t>
            </a:r>
          </a:p>
        </p:txBody>
      </p:sp>
    </p:spTree>
    <p:extLst>
      <p:ext uri="{BB962C8B-B14F-4D97-AF65-F5344CB8AC3E}">
        <p14:creationId xmlns:p14="http://schemas.microsoft.com/office/powerpoint/2010/main" val="198776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4000"/>
            <a:lum/>
            <a:extLst>
              <a:ext uri="{837473B0-CC2E-450A-ABE3-18F120FF3D39}">
                <a1611:picAttrSrcUrl xmlns:a1611="http://schemas.microsoft.com/office/drawing/2016/11/main" r:id="rId3"/>
              </a:ext>
            </a:extLst>
          </a:blip>
          <a:srcRect/>
          <a:stretch>
            <a:fillRect t="-13000" b="-13000"/>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br>
              <a:rPr lang="es-PE" sz="6000" b="1" dirty="0"/>
            </a:br>
            <a:br>
              <a:rPr lang="es-PE" sz="6000" b="1" dirty="0"/>
            </a:br>
            <a:r>
              <a:rPr lang="es-419" sz="6000" b="1" dirty="0"/>
              <a:t>TIC-TOC</a:t>
            </a:r>
            <a:br>
              <a:rPr lang="es-419" sz="6000" b="1" dirty="0"/>
            </a:br>
            <a:br>
              <a:rPr lang="es-PE" sz="6000" b="1" dirty="0"/>
            </a:br>
            <a:endParaRPr lang="es-PE" sz="6000" b="1" dirty="0"/>
          </a:p>
        </p:txBody>
      </p:sp>
      <p:sp>
        <p:nvSpPr>
          <p:cNvPr id="9" name="CaixaDeTexto 8">
            <a:extLst>
              <a:ext uri="{FF2B5EF4-FFF2-40B4-BE49-F238E27FC236}">
                <a16:creationId xmlns:a16="http://schemas.microsoft.com/office/drawing/2014/main" id="{ED25D363-A417-4F40-9985-7D170328AF20}"/>
              </a:ext>
            </a:extLst>
          </p:cNvPr>
          <p:cNvSpPr txBox="1"/>
          <p:nvPr/>
        </p:nvSpPr>
        <p:spPr>
          <a:xfrm>
            <a:off x="5537308" y="699185"/>
            <a:ext cx="6310351" cy="1323439"/>
          </a:xfrm>
          <a:prstGeom prst="rect">
            <a:avLst/>
          </a:prstGeom>
          <a:noFill/>
        </p:spPr>
        <p:txBody>
          <a:bodyPr wrap="square"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s-419" sz="4000" b="0" u="none" strike="noStrike" kern="1200" cap="none" spc="0" normalizeH="0" baseline="0" noProof="0" dirty="0">
                <a:ln>
                  <a:noFill/>
                </a:ln>
                <a:solidFill>
                  <a:prstClr val="black"/>
                </a:solidFill>
                <a:effectLst/>
                <a:uLnTx/>
                <a:uFillTx/>
                <a:latin typeface="Calibri" panose="020F0502020204030204"/>
                <a:ea typeface="+mn-ea"/>
                <a:cs typeface="+mn-cs"/>
              </a:rPr>
              <a:t>Medir</a:t>
            </a:r>
            <a:r>
              <a:rPr kumimoji="0" lang="es-419" sz="4000" b="0" u="none" strike="noStrike" kern="1200" cap="none" spc="0" normalizeH="0" noProof="0" dirty="0">
                <a:ln>
                  <a:noFill/>
                </a:ln>
                <a:solidFill>
                  <a:prstClr val="black"/>
                </a:solidFill>
                <a:effectLst/>
                <a:uLnTx/>
                <a:uFillTx/>
                <a:latin typeface="Calibri" panose="020F0502020204030204"/>
                <a:ea typeface="+mn-ea"/>
                <a:cs typeface="+mn-cs"/>
              </a:rPr>
              <a:t> tiempo de simulación en Matlab.</a:t>
            </a:r>
            <a:endParaRPr kumimoji="0" lang="es-419" sz="4000" b="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tângulo 3">
            <a:extLst>
              <a:ext uri="{FF2B5EF4-FFF2-40B4-BE49-F238E27FC236}">
                <a16:creationId xmlns:a16="http://schemas.microsoft.com/office/drawing/2014/main" id="{E53FFF46-6583-4FC7-84B8-6C03F2BDE4C3}"/>
              </a:ext>
            </a:extLst>
          </p:cNvPr>
          <p:cNvSpPr/>
          <p:nvPr/>
        </p:nvSpPr>
        <p:spPr>
          <a:xfrm>
            <a:off x="838200" y="2354561"/>
            <a:ext cx="6096000" cy="3416320"/>
          </a:xfrm>
          <a:prstGeom prst="rect">
            <a:avLst/>
          </a:prstGeom>
        </p:spPr>
        <p:txBody>
          <a:bodyPr>
            <a:spAutoFit/>
          </a:bodyPr>
          <a:lstStyle/>
          <a:p>
            <a:r>
              <a:rPr lang="en-US" sz="2400" dirty="0"/>
              <a:t>tic</a:t>
            </a:r>
          </a:p>
          <a:p>
            <a:r>
              <a:rPr lang="en-US" sz="2400" dirty="0"/>
              <a:t>A = rand(12000, 4400);</a:t>
            </a:r>
          </a:p>
          <a:p>
            <a:r>
              <a:rPr lang="en-US" sz="2400" dirty="0"/>
              <a:t>B = rand(12000, 4400);</a:t>
            </a:r>
          </a:p>
          <a:p>
            <a:r>
              <a:rPr lang="en-US" sz="2400" dirty="0"/>
              <a:t>toc</a:t>
            </a:r>
          </a:p>
          <a:p>
            <a:r>
              <a:rPr lang="en-US" sz="2400" b="1" dirty="0">
                <a:solidFill>
                  <a:srgbClr val="FF0000"/>
                </a:solidFill>
              </a:rPr>
              <a:t>C = A*B’;</a:t>
            </a:r>
          </a:p>
          <a:p>
            <a:r>
              <a:rPr lang="en-US" sz="2400" dirty="0"/>
              <a:t>toc</a:t>
            </a:r>
          </a:p>
          <a:p>
            <a:r>
              <a:rPr lang="en-US" sz="2400" dirty="0"/>
              <a:t>----------------------------------------------------------</a:t>
            </a:r>
          </a:p>
          <a:p>
            <a:r>
              <a:rPr lang="en-US" sz="2400" dirty="0"/>
              <a:t>Elapsed time is 1.196479 seconds.</a:t>
            </a:r>
          </a:p>
          <a:p>
            <a:r>
              <a:rPr lang="en-US" sz="2400" b="1" dirty="0">
                <a:solidFill>
                  <a:srgbClr val="FF0000"/>
                </a:solidFill>
              </a:rPr>
              <a:t>Elapsed time is 23.923493 seconds</a:t>
            </a:r>
            <a:r>
              <a:rPr lang="en-US" dirty="0"/>
              <a:t>.</a:t>
            </a:r>
            <a:endParaRPr lang="es-419" dirty="0"/>
          </a:p>
        </p:txBody>
      </p:sp>
    </p:spTree>
    <p:extLst>
      <p:ext uri="{BB962C8B-B14F-4D97-AF65-F5344CB8AC3E}">
        <p14:creationId xmlns:p14="http://schemas.microsoft.com/office/powerpoint/2010/main" val="156725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Parámetros</a:t>
            </a:r>
          </a:p>
        </p:txBody>
      </p:sp>
      <p:sp>
        <p:nvSpPr>
          <p:cNvPr id="3" name="Marcador de contenido 2"/>
          <p:cNvSpPr>
            <a:spLocks noGrp="1"/>
          </p:cNvSpPr>
          <p:nvPr>
            <p:ph idx="1"/>
          </p:nvPr>
        </p:nvSpPr>
        <p:spPr/>
        <p:txBody>
          <a:bodyPr/>
          <a:lstStyle/>
          <a:p>
            <a:pPr marL="0" indent="0">
              <a:buNone/>
            </a:pPr>
            <a:r>
              <a:rPr lang="es-PE" dirty="0"/>
              <a:t>Que hacen estos parámetros y donde intervienen? (leer lecturas)</a:t>
            </a:r>
          </a:p>
          <a:p>
            <a:pPr marL="514350" indent="-514350">
              <a:buFont typeface="+mj-lt"/>
              <a:buAutoNum type="arabicPeriod"/>
            </a:pPr>
            <a:r>
              <a:rPr lang="es-PE" dirty="0" err="1"/>
              <a:t>MaxSteps</a:t>
            </a:r>
            <a:r>
              <a:rPr lang="es-PE" dirty="0"/>
              <a:t>      = 1000</a:t>
            </a:r>
          </a:p>
          <a:p>
            <a:pPr marL="514350" indent="-514350">
              <a:buFont typeface="+mj-lt"/>
              <a:buAutoNum type="arabicPeriod"/>
            </a:pPr>
            <a:r>
              <a:rPr lang="es-PE" dirty="0" err="1"/>
              <a:t>MaxEpisodes</a:t>
            </a:r>
            <a:r>
              <a:rPr lang="es-PE" dirty="0"/>
              <a:t> = 400</a:t>
            </a:r>
          </a:p>
          <a:p>
            <a:pPr marL="514350" indent="-514350">
              <a:buFont typeface="+mj-lt"/>
              <a:buAutoNum type="arabicPeriod"/>
            </a:pPr>
            <a:r>
              <a:rPr lang="es-PE" dirty="0" err="1"/>
              <a:t>alpha</a:t>
            </a:r>
            <a:r>
              <a:rPr lang="es-PE" dirty="0"/>
              <a:t>       = 0.5;   % </a:t>
            </a:r>
            <a:r>
              <a:rPr lang="es-PE" dirty="0" err="1"/>
              <a:t>learning</a:t>
            </a:r>
            <a:r>
              <a:rPr lang="es-PE" dirty="0"/>
              <a:t> </a:t>
            </a:r>
            <a:r>
              <a:rPr lang="es-PE" dirty="0" err="1"/>
              <a:t>rate</a:t>
            </a:r>
            <a:endParaRPr lang="es-PE" dirty="0"/>
          </a:p>
          <a:p>
            <a:pPr marL="514350" indent="-514350">
              <a:buFont typeface="+mj-lt"/>
              <a:buAutoNum type="arabicPeriod"/>
            </a:pPr>
            <a:r>
              <a:rPr lang="es-PE" dirty="0"/>
              <a:t>gamma       = 1.0;   % </a:t>
            </a:r>
            <a:r>
              <a:rPr lang="es-PE" dirty="0" err="1"/>
              <a:t>discount</a:t>
            </a:r>
            <a:r>
              <a:rPr lang="es-PE" dirty="0"/>
              <a:t> factor</a:t>
            </a:r>
          </a:p>
          <a:p>
            <a:pPr marL="514350" indent="-514350">
              <a:buFont typeface="+mj-lt"/>
              <a:buAutoNum type="arabicPeriod"/>
            </a:pPr>
            <a:r>
              <a:rPr lang="en-US" dirty="0"/>
              <a:t>epsilon     = 0.01;  % probability of a random action selection</a:t>
            </a:r>
          </a:p>
          <a:p>
            <a:endParaRPr lang="es-PE" dirty="0"/>
          </a:p>
        </p:txBody>
      </p:sp>
    </p:spTree>
    <p:extLst>
      <p:ext uri="{BB962C8B-B14F-4D97-AF65-F5344CB8AC3E}">
        <p14:creationId xmlns:p14="http://schemas.microsoft.com/office/powerpoint/2010/main" val="3239840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0D6897-57D7-4AEC-AF25-3EBB54DA25D1}"/>
              </a:ext>
            </a:extLst>
          </p:cNvPr>
          <p:cNvSpPr>
            <a:spLocks noGrp="1"/>
          </p:cNvSpPr>
          <p:nvPr>
            <p:ph type="title"/>
          </p:nvPr>
        </p:nvSpPr>
        <p:spPr/>
        <p:txBody>
          <a:bodyPr/>
          <a:lstStyle/>
          <a:p>
            <a:r>
              <a:rPr lang="es-ES" dirty="0"/>
              <a:t>Ahora vamos hacer unas pruebas</a:t>
            </a:r>
            <a:endParaRPr lang="es-PE" dirty="0"/>
          </a:p>
        </p:txBody>
      </p:sp>
      <p:pic>
        <p:nvPicPr>
          <p:cNvPr id="4" name="Imagen 3">
            <a:extLst>
              <a:ext uri="{FF2B5EF4-FFF2-40B4-BE49-F238E27FC236}">
                <a16:creationId xmlns:a16="http://schemas.microsoft.com/office/drawing/2014/main" id="{A8E2D549-6783-4686-ACD0-3AB98698299A}"/>
              </a:ext>
            </a:extLst>
          </p:cNvPr>
          <p:cNvPicPr>
            <a:picLocks noChangeAspect="1"/>
          </p:cNvPicPr>
          <p:nvPr/>
        </p:nvPicPr>
        <p:blipFill>
          <a:blip r:embed="rId2"/>
          <a:stretch>
            <a:fillRect/>
          </a:stretch>
        </p:blipFill>
        <p:spPr>
          <a:xfrm>
            <a:off x="1722269" y="2877758"/>
            <a:ext cx="4946572" cy="3291719"/>
          </a:xfrm>
          <a:prstGeom prst="rect">
            <a:avLst/>
          </a:prstGeom>
        </p:spPr>
      </p:pic>
    </p:spTree>
    <p:extLst>
      <p:ext uri="{BB962C8B-B14F-4D97-AF65-F5344CB8AC3E}">
        <p14:creationId xmlns:p14="http://schemas.microsoft.com/office/powerpoint/2010/main" val="2525277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6C3AD-8EFA-342C-E19D-DB5A53ABC1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CC923D-3E61-D896-322E-B401E03652C4}"/>
              </a:ext>
            </a:extLst>
          </p:cNvPr>
          <p:cNvSpPr>
            <a:spLocks noGrp="1"/>
          </p:cNvSpPr>
          <p:nvPr>
            <p:ph type="title"/>
          </p:nvPr>
        </p:nvSpPr>
        <p:spPr>
          <a:xfrm>
            <a:off x="750589" y="191860"/>
            <a:ext cx="10515600" cy="1325563"/>
          </a:xfrm>
        </p:spPr>
        <p:txBody>
          <a:bodyPr>
            <a:normAutofit/>
          </a:bodyPr>
          <a:lstStyle/>
          <a:p>
            <a:r>
              <a:rPr lang="es-ES" sz="4000" b="1" dirty="0"/>
              <a:t>Ejecutar el programa siendo épsilon  0.010</a:t>
            </a:r>
            <a:endParaRPr lang="es-PE" sz="4000" b="1" dirty="0"/>
          </a:p>
        </p:txBody>
      </p:sp>
      <p:sp>
        <p:nvSpPr>
          <p:cNvPr id="4" name="Título 1">
            <a:extLst>
              <a:ext uri="{FF2B5EF4-FFF2-40B4-BE49-F238E27FC236}">
                <a16:creationId xmlns:a16="http://schemas.microsoft.com/office/drawing/2014/main" id="{EC6BF730-5584-88E0-1286-6F0CCE3C9DD1}"/>
              </a:ext>
            </a:extLst>
          </p:cNvPr>
          <p:cNvSpPr txBox="1">
            <a:spLocks/>
          </p:cNvSpPr>
          <p:nvPr/>
        </p:nvSpPr>
        <p:spPr>
          <a:xfrm>
            <a:off x="626616" y="1787032"/>
            <a:ext cx="10515600" cy="316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Font typeface="+mj-lt"/>
              <a:buAutoNum type="arabicPeriod"/>
            </a:pPr>
            <a:r>
              <a:rPr lang="es-ES" sz="4000" dirty="0"/>
              <a:t>Mostrar el épsilon final.</a:t>
            </a:r>
          </a:p>
          <a:p>
            <a:pPr marL="742950" indent="-742950">
              <a:buFont typeface="+mj-lt"/>
              <a:buAutoNum type="arabicPeriod"/>
            </a:pPr>
            <a:r>
              <a:rPr lang="es-ES" sz="4000" dirty="0"/>
              <a:t>El grafico de convergencia del algoritmo que muestra episodios vs pasos.</a:t>
            </a:r>
          </a:p>
          <a:p>
            <a:pPr marL="742950" indent="-742950">
              <a:buFont typeface="+mj-lt"/>
              <a:buAutoNum type="arabicPeriod"/>
            </a:pPr>
            <a:r>
              <a:rPr lang="es-ES" sz="4000" dirty="0"/>
              <a:t>Diagrama de superficie 3D de la tabla Q.</a:t>
            </a:r>
          </a:p>
          <a:p>
            <a:pPr marL="742950" indent="-742950">
              <a:buFont typeface="+mj-lt"/>
              <a:buAutoNum type="arabicPeriod"/>
            </a:pPr>
            <a:r>
              <a:rPr lang="es-ES" sz="4000" dirty="0"/>
              <a:t>Explique los resultados.</a:t>
            </a:r>
          </a:p>
        </p:txBody>
      </p:sp>
    </p:spTree>
    <p:extLst>
      <p:ext uri="{BB962C8B-B14F-4D97-AF65-F5344CB8AC3E}">
        <p14:creationId xmlns:p14="http://schemas.microsoft.com/office/powerpoint/2010/main" val="2124829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E7D74FCF-8384-9923-73D2-94533E8D2AB9}"/>
              </a:ext>
            </a:extLst>
          </p:cNvPr>
          <p:cNvSpPr txBox="1"/>
          <p:nvPr/>
        </p:nvSpPr>
        <p:spPr>
          <a:xfrm>
            <a:off x="5948918" y="880533"/>
            <a:ext cx="5667350" cy="3693319"/>
          </a:xfrm>
          <a:prstGeom prst="rect">
            <a:avLst/>
          </a:prstGeom>
          <a:noFill/>
        </p:spPr>
        <p:txBody>
          <a:bodyPr wrap="square" rtlCol="0">
            <a:spAutoFit/>
          </a:bodyPr>
          <a:lstStyle/>
          <a:p>
            <a:r>
              <a:rPr lang="es-ES" dirty="0"/>
              <a:t>Epsilon final llega a 0.00019259</a:t>
            </a:r>
          </a:p>
          <a:p>
            <a:endParaRPr lang="es-ES" dirty="0"/>
          </a:p>
          <a:p>
            <a:r>
              <a:rPr lang="es-ES" dirty="0"/>
              <a:t>Con una tasa de aprendizaje de 0.5 y un factor de descuento de 1, el agente otorga el mismo peso a las recompensas inmediatas y futuras. Esto favorece la planificación a largo plazo necesaria para ganar impulso y alcanzar la meta. El entrenamiento se estabilizó después de aproximadamente 210 episodios, con recorridos cercanos a 220–240 pasos. No obstante, la baja exploración puede limitar el descubrimiento de políticas más eficientes y el valor de gamma igual a 1 explica la propagación de valores Q elevados.</a:t>
            </a:r>
          </a:p>
          <a:p>
            <a:r>
              <a:rPr lang="es-ES" dirty="0"/>
              <a:t>	</a:t>
            </a:r>
          </a:p>
        </p:txBody>
      </p:sp>
      <p:pic>
        <p:nvPicPr>
          <p:cNvPr id="8" name="Imagen 7">
            <a:extLst>
              <a:ext uri="{FF2B5EF4-FFF2-40B4-BE49-F238E27FC236}">
                <a16:creationId xmlns:a16="http://schemas.microsoft.com/office/drawing/2014/main" id="{29761BED-1E29-916D-B551-C7A45775618E}"/>
              </a:ext>
            </a:extLst>
          </p:cNvPr>
          <p:cNvPicPr>
            <a:picLocks noChangeAspect="1"/>
          </p:cNvPicPr>
          <p:nvPr/>
        </p:nvPicPr>
        <p:blipFill>
          <a:blip r:embed="rId2"/>
          <a:stretch>
            <a:fillRect/>
          </a:stretch>
        </p:blipFill>
        <p:spPr>
          <a:xfrm>
            <a:off x="155769" y="135467"/>
            <a:ext cx="5667351" cy="4919133"/>
          </a:xfrm>
          <a:prstGeom prst="rect">
            <a:avLst/>
          </a:prstGeom>
        </p:spPr>
      </p:pic>
      <p:pic>
        <p:nvPicPr>
          <p:cNvPr id="12" name="Imagen 11">
            <a:extLst>
              <a:ext uri="{FF2B5EF4-FFF2-40B4-BE49-F238E27FC236}">
                <a16:creationId xmlns:a16="http://schemas.microsoft.com/office/drawing/2014/main" id="{FDAF15B2-5115-987A-738D-567804418669}"/>
              </a:ext>
            </a:extLst>
          </p:cNvPr>
          <p:cNvPicPr>
            <a:picLocks noChangeAspect="1"/>
          </p:cNvPicPr>
          <p:nvPr/>
        </p:nvPicPr>
        <p:blipFill>
          <a:blip r:embed="rId3"/>
          <a:stretch>
            <a:fillRect/>
          </a:stretch>
        </p:blipFill>
        <p:spPr>
          <a:xfrm>
            <a:off x="439667" y="3763433"/>
            <a:ext cx="3549402" cy="2582334"/>
          </a:xfrm>
          <a:prstGeom prst="rect">
            <a:avLst/>
          </a:prstGeom>
        </p:spPr>
      </p:pic>
    </p:spTree>
    <p:extLst>
      <p:ext uri="{BB962C8B-B14F-4D97-AF65-F5344CB8AC3E}">
        <p14:creationId xmlns:p14="http://schemas.microsoft.com/office/powerpoint/2010/main" val="1913483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C7808-B502-3877-E073-46E99FEAEE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954BE2-1DAB-F845-12E3-1C6234F210DE}"/>
              </a:ext>
            </a:extLst>
          </p:cNvPr>
          <p:cNvSpPr>
            <a:spLocks noGrp="1"/>
          </p:cNvSpPr>
          <p:nvPr>
            <p:ph type="title"/>
          </p:nvPr>
        </p:nvSpPr>
        <p:spPr>
          <a:xfrm>
            <a:off x="750589" y="191860"/>
            <a:ext cx="10515600" cy="1325563"/>
          </a:xfrm>
        </p:spPr>
        <p:txBody>
          <a:bodyPr>
            <a:normAutofit/>
          </a:bodyPr>
          <a:lstStyle/>
          <a:p>
            <a:r>
              <a:rPr lang="es-ES" sz="4000" b="1" dirty="0"/>
              <a:t>Ejecutar el programa siendo épsilon  0.0010</a:t>
            </a:r>
            <a:endParaRPr lang="es-PE" sz="4000" b="1" dirty="0"/>
          </a:p>
        </p:txBody>
      </p:sp>
      <p:sp>
        <p:nvSpPr>
          <p:cNvPr id="4" name="Título 1">
            <a:extLst>
              <a:ext uri="{FF2B5EF4-FFF2-40B4-BE49-F238E27FC236}">
                <a16:creationId xmlns:a16="http://schemas.microsoft.com/office/drawing/2014/main" id="{DC01C22C-7FBD-7A20-6D76-63D03CBF2112}"/>
              </a:ext>
            </a:extLst>
          </p:cNvPr>
          <p:cNvSpPr txBox="1">
            <a:spLocks/>
          </p:cNvSpPr>
          <p:nvPr/>
        </p:nvSpPr>
        <p:spPr>
          <a:xfrm>
            <a:off x="626616" y="1787032"/>
            <a:ext cx="10515600" cy="316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Font typeface="+mj-lt"/>
              <a:buAutoNum type="arabicPeriod"/>
            </a:pPr>
            <a:r>
              <a:rPr lang="es-ES" sz="4000" dirty="0"/>
              <a:t>Mostrar el épsilon final.</a:t>
            </a:r>
          </a:p>
          <a:p>
            <a:pPr marL="742950" indent="-742950">
              <a:buFont typeface="+mj-lt"/>
              <a:buAutoNum type="arabicPeriod"/>
            </a:pPr>
            <a:r>
              <a:rPr lang="es-ES" sz="4000" dirty="0"/>
              <a:t>El grafico de convergencia del algoritmo que muestra episodios vs pasos.</a:t>
            </a:r>
          </a:p>
          <a:p>
            <a:pPr marL="742950" indent="-742950">
              <a:buFont typeface="+mj-lt"/>
              <a:buAutoNum type="arabicPeriod"/>
            </a:pPr>
            <a:r>
              <a:rPr lang="es-ES" sz="4000" dirty="0"/>
              <a:t>Diagrama de superficie 3D de la tabla Q.</a:t>
            </a:r>
          </a:p>
          <a:p>
            <a:pPr marL="742950" indent="-742950">
              <a:buFont typeface="+mj-lt"/>
              <a:buAutoNum type="arabicPeriod"/>
            </a:pPr>
            <a:r>
              <a:rPr lang="es-ES" sz="4000" dirty="0"/>
              <a:t>Explique los resultados.</a:t>
            </a:r>
          </a:p>
        </p:txBody>
      </p:sp>
    </p:spTree>
    <p:extLst>
      <p:ext uri="{BB962C8B-B14F-4D97-AF65-F5344CB8AC3E}">
        <p14:creationId xmlns:p14="http://schemas.microsoft.com/office/powerpoint/2010/main" val="1931693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4D00C0-9957-631B-6F73-982EE03CD876}"/>
              </a:ext>
            </a:extLst>
          </p:cNvPr>
          <p:cNvSpPr>
            <a:spLocks noGrp="1"/>
          </p:cNvSpPr>
          <p:nvPr>
            <p:ph type="title"/>
          </p:nvPr>
        </p:nvSpPr>
        <p:spPr/>
        <p:txBody>
          <a:bodyPr/>
          <a:lstStyle/>
          <a:p>
            <a:endParaRPr lang="es-PE"/>
          </a:p>
        </p:txBody>
      </p:sp>
      <p:pic>
        <p:nvPicPr>
          <p:cNvPr id="8" name="Marcador de contenido 7">
            <a:extLst>
              <a:ext uri="{FF2B5EF4-FFF2-40B4-BE49-F238E27FC236}">
                <a16:creationId xmlns:a16="http://schemas.microsoft.com/office/drawing/2014/main" id="{93933819-3AF9-8F54-1759-E1E03DB8F305}"/>
              </a:ext>
            </a:extLst>
          </p:cNvPr>
          <p:cNvPicPr>
            <a:picLocks noGrp="1" noChangeAspect="1"/>
          </p:cNvPicPr>
          <p:nvPr>
            <p:ph idx="1"/>
          </p:nvPr>
        </p:nvPicPr>
        <p:blipFill>
          <a:blip r:embed="rId2"/>
          <a:stretch>
            <a:fillRect/>
          </a:stretch>
        </p:blipFill>
        <p:spPr>
          <a:xfrm>
            <a:off x="957727" y="3750733"/>
            <a:ext cx="3766272" cy="3340520"/>
          </a:xfrm>
          <a:prstGeom prst="rect">
            <a:avLst/>
          </a:prstGeom>
        </p:spPr>
      </p:pic>
      <p:pic>
        <p:nvPicPr>
          <p:cNvPr id="5" name="Imagen 4">
            <a:extLst>
              <a:ext uri="{FF2B5EF4-FFF2-40B4-BE49-F238E27FC236}">
                <a16:creationId xmlns:a16="http://schemas.microsoft.com/office/drawing/2014/main" id="{F36AD35B-05E0-A593-6AFF-C0C91510D447}"/>
              </a:ext>
            </a:extLst>
          </p:cNvPr>
          <p:cNvPicPr>
            <a:picLocks noChangeAspect="1"/>
          </p:cNvPicPr>
          <p:nvPr/>
        </p:nvPicPr>
        <p:blipFill>
          <a:blip r:embed="rId3"/>
          <a:stretch>
            <a:fillRect/>
          </a:stretch>
        </p:blipFill>
        <p:spPr>
          <a:xfrm>
            <a:off x="601725" y="88480"/>
            <a:ext cx="4478276" cy="4031724"/>
          </a:xfrm>
          <a:prstGeom prst="rect">
            <a:avLst/>
          </a:prstGeom>
        </p:spPr>
      </p:pic>
      <p:sp>
        <p:nvSpPr>
          <p:cNvPr id="6" name="CuadroTexto 5">
            <a:extLst>
              <a:ext uri="{FF2B5EF4-FFF2-40B4-BE49-F238E27FC236}">
                <a16:creationId xmlns:a16="http://schemas.microsoft.com/office/drawing/2014/main" id="{AA467F27-ED85-EAAA-EB11-43EED9400302}"/>
              </a:ext>
            </a:extLst>
          </p:cNvPr>
          <p:cNvSpPr txBox="1"/>
          <p:nvPr/>
        </p:nvSpPr>
        <p:spPr>
          <a:xfrm>
            <a:off x="5436004" y="1825625"/>
            <a:ext cx="5825032" cy="3139321"/>
          </a:xfrm>
          <a:prstGeom prst="rect">
            <a:avLst/>
          </a:prstGeom>
          <a:noFill/>
        </p:spPr>
        <p:txBody>
          <a:bodyPr wrap="square" rtlCol="0">
            <a:spAutoFit/>
          </a:bodyPr>
          <a:lstStyle/>
          <a:p>
            <a:r>
              <a:rPr lang="es-ES" dirty="0"/>
              <a:t>Acá converge a 0.00001959, el agente</a:t>
            </a:r>
          </a:p>
          <a:p>
            <a:endParaRPr lang="es-ES" dirty="0"/>
          </a:p>
          <a:p>
            <a:r>
              <a:rPr lang="es-ES" dirty="0"/>
              <a:t>El agente con un épsilon menor, explora menos y llega a su objetivo más rápido, entiende lo que tiene que hacer</a:t>
            </a:r>
          </a:p>
          <a:p>
            <a:r>
              <a:rPr lang="es-ES" dirty="0"/>
              <a:t>estabilizándose desde aproximadamente el episodio 90 en 235 pasos. Sin embargo, la menor exploración generó preferencias muy marcadas en la tabla Q y aumenta el riesgo de converger prematuramente hacia una política subóptima. Por tanto, el menor </a:t>
            </a:r>
            <a:r>
              <a:rPr lang="es-ES" dirty="0" err="1"/>
              <a:t>epsilon</a:t>
            </a:r>
            <a:r>
              <a:rPr lang="es-ES" dirty="0"/>
              <a:t> mejoró la velocidad y estabilidad de convergencia, pero no produjo una mejora clara en la eficiencia final.</a:t>
            </a:r>
          </a:p>
        </p:txBody>
      </p:sp>
    </p:spTree>
    <p:extLst>
      <p:ext uri="{BB962C8B-B14F-4D97-AF65-F5344CB8AC3E}">
        <p14:creationId xmlns:p14="http://schemas.microsoft.com/office/powerpoint/2010/main" val="215480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08CAC-E6F6-9D08-053E-845EDFA50A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866C1D-356F-C805-4B89-3C802E6CE7DE}"/>
              </a:ext>
            </a:extLst>
          </p:cNvPr>
          <p:cNvSpPr>
            <a:spLocks noGrp="1"/>
          </p:cNvSpPr>
          <p:nvPr>
            <p:ph type="title"/>
          </p:nvPr>
        </p:nvSpPr>
        <p:spPr>
          <a:xfrm>
            <a:off x="750589" y="191860"/>
            <a:ext cx="10515600" cy="1325563"/>
          </a:xfrm>
        </p:spPr>
        <p:txBody>
          <a:bodyPr>
            <a:normAutofit/>
          </a:bodyPr>
          <a:lstStyle/>
          <a:p>
            <a:r>
              <a:rPr lang="es-ES" sz="4000" b="1" dirty="0"/>
              <a:t>Ejecutar el programa siendo épsilon  0.10</a:t>
            </a:r>
            <a:endParaRPr lang="es-PE" sz="4000" b="1" dirty="0"/>
          </a:p>
        </p:txBody>
      </p:sp>
      <p:sp>
        <p:nvSpPr>
          <p:cNvPr id="4" name="Título 1">
            <a:extLst>
              <a:ext uri="{FF2B5EF4-FFF2-40B4-BE49-F238E27FC236}">
                <a16:creationId xmlns:a16="http://schemas.microsoft.com/office/drawing/2014/main" id="{03B27320-9033-8553-CA99-0F2BBB66BDB6}"/>
              </a:ext>
            </a:extLst>
          </p:cNvPr>
          <p:cNvSpPr txBox="1">
            <a:spLocks/>
          </p:cNvSpPr>
          <p:nvPr/>
        </p:nvSpPr>
        <p:spPr>
          <a:xfrm>
            <a:off x="626616" y="1787032"/>
            <a:ext cx="10515600" cy="316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Font typeface="+mj-lt"/>
              <a:buAutoNum type="arabicPeriod"/>
            </a:pPr>
            <a:r>
              <a:rPr lang="es-ES" sz="4000" dirty="0"/>
              <a:t>Mostrar el épsilon final.</a:t>
            </a:r>
          </a:p>
          <a:p>
            <a:pPr marL="742950" indent="-742950">
              <a:buFont typeface="+mj-lt"/>
              <a:buAutoNum type="arabicPeriod"/>
            </a:pPr>
            <a:r>
              <a:rPr lang="es-ES" sz="4000" dirty="0"/>
              <a:t>El grafico de convergencia del algoritmo que muestra episodios vs pasos.</a:t>
            </a:r>
          </a:p>
          <a:p>
            <a:pPr marL="742950" indent="-742950">
              <a:buFont typeface="+mj-lt"/>
              <a:buAutoNum type="arabicPeriod"/>
            </a:pPr>
            <a:r>
              <a:rPr lang="es-ES" sz="4000" dirty="0"/>
              <a:t>Diagrama de superficie 3D de la tabla Q.</a:t>
            </a:r>
          </a:p>
          <a:p>
            <a:pPr marL="742950" indent="-742950">
              <a:buFont typeface="+mj-lt"/>
              <a:buAutoNum type="arabicPeriod"/>
            </a:pPr>
            <a:r>
              <a:rPr lang="es-ES" sz="4000" dirty="0"/>
              <a:t>Explique los resultados.</a:t>
            </a:r>
          </a:p>
        </p:txBody>
      </p:sp>
    </p:spTree>
    <p:extLst>
      <p:ext uri="{BB962C8B-B14F-4D97-AF65-F5344CB8AC3E}">
        <p14:creationId xmlns:p14="http://schemas.microsoft.com/office/powerpoint/2010/main" val="2125157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F9CAB8-930F-CB6F-1697-A2C72788C763}"/>
              </a:ext>
            </a:extLst>
          </p:cNvPr>
          <p:cNvSpPr>
            <a:spLocks noGrp="1"/>
          </p:cNvSpPr>
          <p:nvPr>
            <p:ph type="title"/>
          </p:nvPr>
        </p:nvSpPr>
        <p:spPr/>
        <p:txBody>
          <a:bodyPr/>
          <a:lstStyle/>
          <a:p>
            <a:endParaRPr lang="es-PE" dirty="0"/>
          </a:p>
        </p:txBody>
      </p:sp>
      <p:sp>
        <p:nvSpPr>
          <p:cNvPr id="6" name="CuadroTexto 5">
            <a:extLst>
              <a:ext uri="{FF2B5EF4-FFF2-40B4-BE49-F238E27FC236}">
                <a16:creationId xmlns:a16="http://schemas.microsoft.com/office/drawing/2014/main" id="{4F636009-A79C-6155-21BE-1A4F225C1809}"/>
              </a:ext>
            </a:extLst>
          </p:cNvPr>
          <p:cNvSpPr txBox="1"/>
          <p:nvPr/>
        </p:nvSpPr>
        <p:spPr>
          <a:xfrm>
            <a:off x="7454348" y="1172817"/>
            <a:ext cx="3806687" cy="5355312"/>
          </a:xfrm>
          <a:prstGeom prst="rect">
            <a:avLst/>
          </a:prstGeom>
          <a:noFill/>
        </p:spPr>
        <p:txBody>
          <a:bodyPr wrap="square" rtlCol="0">
            <a:spAutoFit/>
          </a:bodyPr>
          <a:lstStyle/>
          <a:p>
            <a:r>
              <a:rPr lang="es-ES" dirty="0"/>
              <a:t>Acá se inicializó con 0.1 de e</a:t>
            </a:r>
            <a:br>
              <a:rPr lang="es-ES" dirty="0"/>
            </a:br>
            <a:br>
              <a:rPr lang="es-ES" dirty="0"/>
            </a:br>
            <a:r>
              <a:rPr lang="es-ES" dirty="0"/>
              <a:t>El carro explora mucho más y no siempre llega al objetivo</a:t>
            </a:r>
          </a:p>
          <a:p>
            <a:endParaRPr lang="es-ES" dirty="0"/>
          </a:p>
          <a:p>
            <a:r>
              <a:rPr lang="es-ES" dirty="0"/>
              <a:t>Con un </a:t>
            </a:r>
            <a:r>
              <a:rPr lang="es-ES" dirty="0" err="1"/>
              <a:t>epsilon</a:t>
            </a:r>
            <a:r>
              <a:rPr lang="es-ES" dirty="0"/>
              <a:t> inicial de 0.1, el agente explora más acciones y actualiza una mayor parte de la tabla Q. Esto genera una curva de entrenamiento más variable y numerosos episodios fallidos. Después de 400 episodios no se observa una convergencia clara. Sin embargo, el rendimiento mostrado incluye acciones aleatorias, por lo que es necesario evaluar la tabla Q entrenada con </a:t>
            </a:r>
            <a:r>
              <a:rPr lang="es-ES" dirty="0" err="1"/>
              <a:t>epsilon</a:t>
            </a:r>
            <a:r>
              <a:rPr lang="es-ES" dirty="0"/>
              <a:t> igual a cero antes de compararla con las demás configuraciones.</a:t>
            </a:r>
          </a:p>
          <a:p>
            <a:endParaRPr lang="es-ES" dirty="0"/>
          </a:p>
        </p:txBody>
      </p:sp>
      <p:pic>
        <p:nvPicPr>
          <p:cNvPr id="8" name="Imagen 7">
            <a:extLst>
              <a:ext uri="{FF2B5EF4-FFF2-40B4-BE49-F238E27FC236}">
                <a16:creationId xmlns:a16="http://schemas.microsoft.com/office/drawing/2014/main" id="{F2EA74EE-488A-4955-AB00-3D0C98305815}"/>
              </a:ext>
            </a:extLst>
          </p:cNvPr>
          <p:cNvPicPr>
            <a:picLocks noChangeAspect="1"/>
          </p:cNvPicPr>
          <p:nvPr/>
        </p:nvPicPr>
        <p:blipFill>
          <a:blip r:embed="rId2"/>
          <a:stretch>
            <a:fillRect/>
          </a:stretch>
        </p:blipFill>
        <p:spPr>
          <a:xfrm>
            <a:off x="356429" y="204259"/>
            <a:ext cx="4808350" cy="3851274"/>
          </a:xfrm>
          <a:prstGeom prst="rect">
            <a:avLst/>
          </a:prstGeom>
        </p:spPr>
      </p:pic>
      <p:pic>
        <p:nvPicPr>
          <p:cNvPr id="14" name="Imagen 13">
            <a:extLst>
              <a:ext uri="{FF2B5EF4-FFF2-40B4-BE49-F238E27FC236}">
                <a16:creationId xmlns:a16="http://schemas.microsoft.com/office/drawing/2014/main" id="{D2679A54-8541-B714-D5EE-4F499624642D}"/>
              </a:ext>
            </a:extLst>
          </p:cNvPr>
          <p:cNvPicPr>
            <a:picLocks noChangeAspect="1"/>
          </p:cNvPicPr>
          <p:nvPr/>
        </p:nvPicPr>
        <p:blipFill>
          <a:blip r:embed="rId3"/>
          <a:stretch>
            <a:fillRect/>
          </a:stretch>
        </p:blipFill>
        <p:spPr>
          <a:xfrm>
            <a:off x="1298236" y="3784600"/>
            <a:ext cx="4372699" cy="2947813"/>
          </a:xfrm>
          <a:prstGeom prst="rect">
            <a:avLst/>
          </a:prstGeom>
        </p:spPr>
      </p:pic>
    </p:spTree>
    <p:extLst>
      <p:ext uri="{BB962C8B-B14F-4D97-AF65-F5344CB8AC3E}">
        <p14:creationId xmlns:p14="http://schemas.microsoft.com/office/powerpoint/2010/main" val="1799399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FA4BC-2E65-585A-AEC5-B906F38BF1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9A66F4-F5B8-3893-0B13-9D548F2D6720}"/>
              </a:ext>
            </a:extLst>
          </p:cNvPr>
          <p:cNvSpPr>
            <a:spLocks noGrp="1"/>
          </p:cNvSpPr>
          <p:nvPr>
            <p:ph type="title"/>
          </p:nvPr>
        </p:nvSpPr>
        <p:spPr>
          <a:xfrm>
            <a:off x="750589" y="191860"/>
            <a:ext cx="10515600" cy="1325563"/>
          </a:xfrm>
        </p:spPr>
        <p:txBody>
          <a:bodyPr>
            <a:normAutofit/>
          </a:bodyPr>
          <a:lstStyle/>
          <a:p>
            <a:r>
              <a:rPr lang="es-ES" sz="4000" b="1" dirty="0"/>
              <a:t>Mejore el programa anterior sin modificar el </a:t>
            </a:r>
            <a:r>
              <a:rPr lang="es-ES" sz="4000" b="1" dirty="0" err="1"/>
              <a:t>espilon</a:t>
            </a:r>
            <a:endParaRPr lang="es-PE" sz="4000" b="1" dirty="0"/>
          </a:p>
        </p:txBody>
      </p:sp>
      <p:sp>
        <p:nvSpPr>
          <p:cNvPr id="4" name="Título 1">
            <a:extLst>
              <a:ext uri="{FF2B5EF4-FFF2-40B4-BE49-F238E27FC236}">
                <a16:creationId xmlns:a16="http://schemas.microsoft.com/office/drawing/2014/main" id="{06C6E68B-4896-F4ED-F0F6-7879681DB3AA}"/>
              </a:ext>
            </a:extLst>
          </p:cNvPr>
          <p:cNvSpPr txBox="1">
            <a:spLocks/>
          </p:cNvSpPr>
          <p:nvPr/>
        </p:nvSpPr>
        <p:spPr>
          <a:xfrm>
            <a:off x="626616" y="1787032"/>
            <a:ext cx="10515600" cy="316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Font typeface="+mj-lt"/>
              <a:buAutoNum type="arabicPeriod"/>
            </a:pPr>
            <a:r>
              <a:rPr lang="es-ES" sz="4000" dirty="0"/>
              <a:t>Mostrar el épsilon final.</a:t>
            </a:r>
          </a:p>
          <a:p>
            <a:pPr marL="742950" indent="-742950">
              <a:buFont typeface="+mj-lt"/>
              <a:buAutoNum type="arabicPeriod"/>
            </a:pPr>
            <a:r>
              <a:rPr lang="es-ES" sz="4000" dirty="0"/>
              <a:t>El gráfico de convergencia del algoritmo que muestra episodios vs pasos.</a:t>
            </a:r>
          </a:p>
          <a:p>
            <a:pPr marL="742950" indent="-742950">
              <a:buFont typeface="+mj-lt"/>
              <a:buAutoNum type="arabicPeriod"/>
            </a:pPr>
            <a:r>
              <a:rPr lang="es-ES" sz="4000" dirty="0"/>
              <a:t>Diagrama de superficie 3D de la tabla Q.</a:t>
            </a:r>
          </a:p>
          <a:p>
            <a:pPr marL="742950" indent="-742950">
              <a:buFont typeface="+mj-lt"/>
              <a:buAutoNum type="arabicPeriod"/>
            </a:pPr>
            <a:r>
              <a:rPr lang="es-ES" sz="4000" dirty="0"/>
              <a:t>Explique los resultados.</a:t>
            </a:r>
          </a:p>
        </p:txBody>
      </p:sp>
    </p:spTree>
    <p:extLst>
      <p:ext uri="{BB962C8B-B14F-4D97-AF65-F5344CB8AC3E}">
        <p14:creationId xmlns:p14="http://schemas.microsoft.com/office/powerpoint/2010/main" val="809416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C50836-B102-8A1C-BCA5-D44D76D7663E}"/>
              </a:ext>
            </a:extLst>
          </p:cNvPr>
          <p:cNvSpPr>
            <a:spLocks noGrp="1"/>
          </p:cNvSpPr>
          <p:nvPr>
            <p:ph type="title"/>
          </p:nvPr>
        </p:nvSpPr>
        <p:spPr/>
        <p:txBody>
          <a:bodyPr/>
          <a:lstStyle/>
          <a:p>
            <a:endParaRPr lang="es-PE" dirty="0"/>
          </a:p>
        </p:txBody>
      </p:sp>
      <p:pic>
        <p:nvPicPr>
          <p:cNvPr id="10" name="Marcador de contenido 9">
            <a:extLst>
              <a:ext uri="{FF2B5EF4-FFF2-40B4-BE49-F238E27FC236}">
                <a16:creationId xmlns:a16="http://schemas.microsoft.com/office/drawing/2014/main" id="{0B8E98E2-5F0E-B60C-998D-AB9B1A489752}"/>
              </a:ext>
            </a:extLst>
          </p:cNvPr>
          <p:cNvPicPr>
            <a:picLocks noGrp="1" noChangeAspect="1"/>
          </p:cNvPicPr>
          <p:nvPr>
            <p:ph idx="1"/>
          </p:nvPr>
        </p:nvPicPr>
        <p:blipFill>
          <a:blip r:embed="rId2"/>
          <a:stretch>
            <a:fillRect/>
          </a:stretch>
        </p:blipFill>
        <p:spPr>
          <a:xfrm>
            <a:off x="942897" y="4044421"/>
            <a:ext cx="4230235" cy="2526056"/>
          </a:xfrm>
          <a:prstGeom prst="rect">
            <a:avLst/>
          </a:prstGeom>
        </p:spPr>
      </p:pic>
      <p:pic>
        <p:nvPicPr>
          <p:cNvPr id="7" name="Imagen 6">
            <a:extLst>
              <a:ext uri="{FF2B5EF4-FFF2-40B4-BE49-F238E27FC236}">
                <a16:creationId xmlns:a16="http://schemas.microsoft.com/office/drawing/2014/main" id="{ACBC3A48-0DE9-E20D-5D9D-86B011189CB7}"/>
              </a:ext>
            </a:extLst>
          </p:cNvPr>
          <p:cNvPicPr>
            <a:picLocks noChangeAspect="1"/>
          </p:cNvPicPr>
          <p:nvPr/>
        </p:nvPicPr>
        <p:blipFill>
          <a:blip r:embed="rId3"/>
          <a:stretch>
            <a:fillRect/>
          </a:stretch>
        </p:blipFill>
        <p:spPr>
          <a:xfrm>
            <a:off x="566762" y="209285"/>
            <a:ext cx="4464117" cy="3679296"/>
          </a:xfrm>
          <a:prstGeom prst="rect">
            <a:avLst/>
          </a:prstGeom>
        </p:spPr>
      </p:pic>
      <p:sp>
        <p:nvSpPr>
          <p:cNvPr id="8" name="CuadroTexto 7">
            <a:extLst>
              <a:ext uri="{FF2B5EF4-FFF2-40B4-BE49-F238E27FC236}">
                <a16:creationId xmlns:a16="http://schemas.microsoft.com/office/drawing/2014/main" id="{33992DC9-C301-FD10-A773-9EA410A5996D}"/>
              </a:ext>
            </a:extLst>
          </p:cNvPr>
          <p:cNvSpPr txBox="1"/>
          <p:nvPr/>
        </p:nvSpPr>
        <p:spPr>
          <a:xfrm>
            <a:off x="5302316" y="1665787"/>
            <a:ext cx="6051483" cy="5078313"/>
          </a:xfrm>
          <a:prstGeom prst="rect">
            <a:avLst/>
          </a:prstGeom>
          <a:noFill/>
        </p:spPr>
        <p:txBody>
          <a:bodyPr wrap="square" rtlCol="0">
            <a:spAutoFit/>
          </a:bodyPr>
          <a:lstStyle/>
          <a:p>
            <a:r>
              <a:rPr lang="es-ES" dirty="0"/>
              <a:t>Mejor modelo con el que tiene menos pasos</a:t>
            </a:r>
          </a:p>
          <a:p>
            <a:endParaRPr lang="es-ES" dirty="0"/>
          </a:p>
          <a:p>
            <a:r>
              <a:rPr lang="es-ES" dirty="0"/>
              <a:t>Manteniendo el e inicial de 0.01</a:t>
            </a:r>
          </a:p>
          <a:p>
            <a:r>
              <a:rPr lang="es-ES" dirty="0"/>
              <a:t>Cambié alfa y </a:t>
            </a:r>
            <a:r>
              <a:rPr lang="es-ES" dirty="0" err="1"/>
              <a:t>y</a:t>
            </a:r>
            <a:r>
              <a:rPr lang="es-ES" dirty="0"/>
              <a:t> gamma</a:t>
            </a:r>
          </a:p>
          <a:p>
            <a:r>
              <a:rPr lang="es-ES" dirty="0" err="1"/>
              <a:t>alpha</a:t>
            </a:r>
            <a:r>
              <a:rPr lang="es-ES" dirty="0"/>
              <a:t> = 0.01; % </a:t>
            </a:r>
            <a:r>
              <a:rPr lang="es-ES" dirty="0" err="1"/>
              <a:t>learning</a:t>
            </a:r>
            <a:r>
              <a:rPr lang="es-ES" dirty="0"/>
              <a:t> </a:t>
            </a:r>
            <a:r>
              <a:rPr lang="es-ES" dirty="0" err="1"/>
              <a:t>rate</a:t>
            </a:r>
            <a:endParaRPr lang="es-ES" dirty="0"/>
          </a:p>
          <a:p>
            <a:r>
              <a:rPr lang="es-ES" dirty="0"/>
              <a:t>gamma = 0.7; % </a:t>
            </a:r>
            <a:r>
              <a:rPr lang="es-ES" dirty="0" err="1"/>
              <a:t>discount</a:t>
            </a:r>
            <a:r>
              <a:rPr lang="es-ES" dirty="0"/>
              <a:t> factor</a:t>
            </a:r>
          </a:p>
          <a:p>
            <a:r>
              <a:rPr lang="es-ES" dirty="0" err="1"/>
              <a:t>epsilon</a:t>
            </a:r>
            <a:r>
              <a:rPr lang="es-ES" dirty="0"/>
              <a:t> = 0.01; % </a:t>
            </a:r>
            <a:r>
              <a:rPr lang="es-ES" dirty="0" err="1"/>
              <a:t>probability</a:t>
            </a:r>
            <a:r>
              <a:rPr lang="es-ES" dirty="0"/>
              <a:t> </a:t>
            </a:r>
            <a:r>
              <a:rPr lang="es-ES" dirty="0" err="1"/>
              <a:t>of</a:t>
            </a:r>
            <a:r>
              <a:rPr lang="es-ES" dirty="0"/>
              <a:t> a </a:t>
            </a:r>
            <a:r>
              <a:rPr lang="es-ES" dirty="0" err="1"/>
              <a:t>random</a:t>
            </a:r>
            <a:r>
              <a:rPr lang="es-ES" dirty="0"/>
              <a:t> </a:t>
            </a:r>
            <a:r>
              <a:rPr lang="es-ES" dirty="0" err="1"/>
              <a:t>action</a:t>
            </a:r>
            <a:r>
              <a:rPr lang="es-ES" dirty="0"/>
              <a:t> </a:t>
            </a:r>
            <a:r>
              <a:rPr lang="es-ES" dirty="0" err="1"/>
              <a:t>selection</a:t>
            </a:r>
            <a:endParaRPr lang="es-ES" dirty="0"/>
          </a:p>
          <a:p>
            <a:endParaRPr lang="es-ES" dirty="0"/>
          </a:p>
          <a:p>
            <a:endParaRPr lang="es-ES" dirty="0"/>
          </a:p>
          <a:p>
            <a:r>
              <a:rPr lang="es-ES" dirty="0"/>
              <a:t> Con α=0.01, γ=0.7 y un ε inicial de 0.01, el agente redujo progresivamente la cantidad de pasos necesarios para alcanzar la meta.</a:t>
            </a:r>
          </a:p>
          <a:p>
            <a:r>
              <a:rPr lang="es-ES" dirty="0"/>
              <a:t> Después de aproximadamente 160 episodios, el desempeño se estabilizó entre 150 y 300 pasos, y en el episodio mostrado alcanzó la meta en 145 pasos. La disminución de ε indica que, al finalizar el entrenamiento, el agente explota casi exclusivamente la política aprendida.</a:t>
            </a:r>
          </a:p>
          <a:p>
            <a:endParaRPr lang="es-ES" dirty="0"/>
          </a:p>
        </p:txBody>
      </p:sp>
    </p:spTree>
    <p:extLst>
      <p:ext uri="{BB962C8B-B14F-4D97-AF65-F5344CB8AC3E}">
        <p14:creationId xmlns:p14="http://schemas.microsoft.com/office/powerpoint/2010/main" val="3546687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6B63AE-65D4-49F5-8C2A-90D297454DCF}"/>
              </a:ext>
            </a:extLst>
          </p:cNvPr>
          <p:cNvSpPr>
            <a:spLocks noGrp="1"/>
          </p:cNvSpPr>
          <p:nvPr>
            <p:ph type="title"/>
          </p:nvPr>
        </p:nvSpPr>
        <p:spPr>
          <a:xfrm>
            <a:off x="750589" y="191860"/>
            <a:ext cx="10515600" cy="1325563"/>
          </a:xfrm>
        </p:spPr>
        <p:txBody>
          <a:bodyPr>
            <a:normAutofit/>
          </a:bodyPr>
          <a:lstStyle/>
          <a:p>
            <a:r>
              <a:rPr lang="es-ES" sz="4000" b="1" dirty="0"/>
              <a:t>Ejecutar el programa siendo épsilon a 0.010</a:t>
            </a:r>
            <a:endParaRPr lang="es-PE" sz="4000" b="1" dirty="0"/>
          </a:p>
        </p:txBody>
      </p:sp>
      <p:sp>
        <p:nvSpPr>
          <p:cNvPr id="4" name="Título 1">
            <a:extLst>
              <a:ext uri="{FF2B5EF4-FFF2-40B4-BE49-F238E27FC236}">
                <a16:creationId xmlns:a16="http://schemas.microsoft.com/office/drawing/2014/main" id="{59B683B6-8697-4241-8CFC-3FBD091A2DCB}"/>
              </a:ext>
            </a:extLst>
          </p:cNvPr>
          <p:cNvSpPr txBox="1">
            <a:spLocks/>
          </p:cNvSpPr>
          <p:nvPr/>
        </p:nvSpPr>
        <p:spPr>
          <a:xfrm>
            <a:off x="626616" y="1787032"/>
            <a:ext cx="10515600" cy="316365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Font typeface="+mj-lt"/>
              <a:buAutoNum type="arabicPeriod"/>
            </a:pPr>
            <a:r>
              <a:rPr lang="es-ES" sz="4000" dirty="0"/>
              <a:t>Mostrar el épsilon final.</a:t>
            </a:r>
          </a:p>
          <a:p>
            <a:pPr marL="742950" indent="-742950">
              <a:buFont typeface="+mj-lt"/>
              <a:buAutoNum type="arabicPeriod"/>
            </a:pPr>
            <a:r>
              <a:rPr lang="es-ES" sz="4000" dirty="0"/>
              <a:t>El grafico de convergencia del algoritmo que muestra episodios vs pasos.</a:t>
            </a:r>
          </a:p>
          <a:p>
            <a:pPr marL="742950" indent="-742950">
              <a:buFont typeface="+mj-lt"/>
              <a:buAutoNum type="arabicPeriod"/>
            </a:pPr>
            <a:r>
              <a:rPr lang="es-ES" sz="4000" dirty="0"/>
              <a:t>Diagrama de superficie 3D de la tabla Q.</a:t>
            </a:r>
          </a:p>
          <a:p>
            <a:pPr marL="742950" indent="-742950">
              <a:buFont typeface="+mj-lt"/>
              <a:buAutoNum type="arabicPeriod"/>
            </a:pPr>
            <a:r>
              <a:rPr lang="es-ES" sz="4000" dirty="0">
                <a:highlight>
                  <a:srgbClr val="FFFF00"/>
                </a:highlight>
              </a:rPr>
              <a:t>Cambie el gamma a 0.5</a:t>
            </a:r>
          </a:p>
          <a:p>
            <a:pPr marL="742950" indent="-742950">
              <a:buFont typeface="+mj-lt"/>
              <a:buAutoNum type="arabicPeriod"/>
            </a:pPr>
            <a:r>
              <a:rPr lang="es-ES" sz="4000" dirty="0"/>
              <a:t>Explique los resultados.</a:t>
            </a:r>
          </a:p>
        </p:txBody>
      </p:sp>
    </p:spTree>
    <p:extLst>
      <p:ext uri="{BB962C8B-B14F-4D97-AF65-F5344CB8AC3E}">
        <p14:creationId xmlns:p14="http://schemas.microsoft.com/office/powerpoint/2010/main" val="3950440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21BE3-D2C7-AEB4-E6D1-0F305CFAE8D2}"/>
              </a:ext>
            </a:extLst>
          </p:cNvPr>
          <p:cNvSpPr>
            <a:spLocks noGrp="1"/>
          </p:cNvSpPr>
          <p:nvPr>
            <p:ph type="title"/>
          </p:nvPr>
        </p:nvSpPr>
        <p:spPr/>
        <p:txBody>
          <a:bodyPr/>
          <a:lstStyle/>
          <a:p>
            <a:endParaRPr lang="es-PE"/>
          </a:p>
        </p:txBody>
      </p:sp>
      <p:pic>
        <p:nvPicPr>
          <p:cNvPr id="5" name="Marcador de contenido 4">
            <a:extLst>
              <a:ext uri="{FF2B5EF4-FFF2-40B4-BE49-F238E27FC236}">
                <a16:creationId xmlns:a16="http://schemas.microsoft.com/office/drawing/2014/main" id="{A7E1D042-9211-9C48-953A-B02E8C702675}"/>
              </a:ext>
            </a:extLst>
          </p:cNvPr>
          <p:cNvPicPr>
            <a:picLocks noGrp="1" noChangeAspect="1"/>
          </p:cNvPicPr>
          <p:nvPr>
            <p:ph idx="1"/>
          </p:nvPr>
        </p:nvPicPr>
        <p:blipFill>
          <a:blip r:embed="rId2"/>
          <a:stretch>
            <a:fillRect/>
          </a:stretch>
        </p:blipFill>
        <p:spPr>
          <a:xfrm>
            <a:off x="526255" y="741891"/>
            <a:ext cx="5483755" cy="4351338"/>
          </a:xfrm>
          <a:prstGeom prst="rect">
            <a:avLst/>
          </a:prstGeom>
        </p:spPr>
      </p:pic>
      <p:pic>
        <p:nvPicPr>
          <p:cNvPr id="7" name="Imagen 6">
            <a:extLst>
              <a:ext uri="{FF2B5EF4-FFF2-40B4-BE49-F238E27FC236}">
                <a16:creationId xmlns:a16="http://schemas.microsoft.com/office/drawing/2014/main" id="{1366B878-3497-606C-9742-7E939035AD4E}"/>
              </a:ext>
            </a:extLst>
          </p:cNvPr>
          <p:cNvPicPr>
            <a:picLocks noChangeAspect="1"/>
          </p:cNvPicPr>
          <p:nvPr/>
        </p:nvPicPr>
        <p:blipFill>
          <a:blip r:embed="rId3"/>
          <a:stretch>
            <a:fillRect/>
          </a:stretch>
        </p:blipFill>
        <p:spPr>
          <a:xfrm>
            <a:off x="6633900" y="365125"/>
            <a:ext cx="5031845" cy="3541760"/>
          </a:xfrm>
          <a:prstGeom prst="rect">
            <a:avLst/>
          </a:prstGeom>
        </p:spPr>
      </p:pic>
      <p:sp>
        <p:nvSpPr>
          <p:cNvPr id="9" name="CuadroTexto 8">
            <a:extLst>
              <a:ext uri="{FF2B5EF4-FFF2-40B4-BE49-F238E27FC236}">
                <a16:creationId xmlns:a16="http://schemas.microsoft.com/office/drawing/2014/main" id="{2EDA0C21-589B-C84C-C2DB-5C0E57A3797F}"/>
              </a:ext>
            </a:extLst>
          </p:cNvPr>
          <p:cNvSpPr txBox="1"/>
          <p:nvPr/>
        </p:nvSpPr>
        <p:spPr>
          <a:xfrm>
            <a:off x="6366932" y="4021667"/>
            <a:ext cx="5418667" cy="2308324"/>
          </a:xfrm>
          <a:prstGeom prst="rect">
            <a:avLst/>
          </a:prstGeom>
          <a:noFill/>
        </p:spPr>
        <p:txBody>
          <a:bodyPr wrap="square" rtlCol="0">
            <a:spAutoFit/>
          </a:bodyPr>
          <a:lstStyle/>
          <a:p>
            <a:r>
              <a:rPr lang="es-ES" dirty="0"/>
              <a:t>Con α=0.5, γ=0.5 y un ε inicial de 0.01, el agente aprendió a alcanzar la meta y se estabilizó aproximadamente en 300 pasos. Sin embargo, mantuvo episodios con un número elevado de pasos. Frente a la configuración anterior, el mayor alfa produjo actualizaciones más agresivas y el menor gamma redujo la valoración de recompensas futuras, obteniéndose un desempeño inferior.</a:t>
            </a:r>
          </a:p>
        </p:txBody>
      </p:sp>
    </p:spTree>
    <p:extLst>
      <p:ext uri="{BB962C8B-B14F-4D97-AF65-F5344CB8AC3E}">
        <p14:creationId xmlns:p14="http://schemas.microsoft.com/office/powerpoint/2010/main" val="2080982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C84A-EDED-46E1-1DE9-97553F154F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41C502-2B14-AB25-6F4E-AC593FF19856}"/>
              </a:ext>
            </a:extLst>
          </p:cNvPr>
          <p:cNvSpPr>
            <a:spLocks noGrp="1"/>
          </p:cNvSpPr>
          <p:nvPr>
            <p:ph type="title"/>
          </p:nvPr>
        </p:nvSpPr>
        <p:spPr>
          <a:xfrm>
            <a:off x="750589" y="191860"/>
            <a:ext cx="10515600" cy="1325563"/>
          </a:xfrm>
        </p:spPr>
        <p:txBody>
          <a:bodyPr>
            <a:normAutofit/>
          </a:bodyPr>
          <a:lstStyle/>
          <a:p>
            <a:r>
              <a:rPr lang="es-ES" sz="4000" b="1" dirty="0"/>
              <a:t>Mejore el programa anterior sin modificar el </a:t>
            </a:r>
            <a:r>
              <a:rPr lang="es-ES" sz="4000" b="1" dirty="0" err="1"/>
              <a:t>espilon</a:t>
            </a:r>
            <a:endParaRPr lang="es-PE" sz="4000" b="1" dirty="0"/>
          </a:p>
        </p:txBody>
      </p:sp>
      <p:sp>
        <p:nvSpPr>
          <p:cNvPr id="4" name="Título 1">
            <a:extLst>
              <a:ext uri="{FF2B5EF4-FFF2-40B4-BE49-F238E27FC236}">
                <a16:creationId xmlns:a16="http://schemas.microsoft.com/office/drawing/2014/main" id="{40D49A45-50E2-7EC9-CFAC-A19906B4E225}"/>
              </a:ext>
            </a:extLst>
          </p:cNvPr>
          <p:cNvSpPr txBox="1">
            <a:spLocks/>
          </p:cNvSpPr>
          <p:nvPr/>
        </p:nvSpPr>
        <p:spPr>
          <a:xfrm>
            <a:off x="626616" y="1787032"/>
            <a:ext cx="10515600" cy="31636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Font typeface="+mj-lt"/>
              <a:buAutoNum type="arabicPeriod"/>
            </a:pPr>
            <a:r>
              <a:rPr lang="es-ES" sz="4000" dirty="0"/>
              <a:t>Mostrar el épsilon final.</a:t>
            </a:r>
          </a:p>
          <a:p>
            <a:pPr marL="742950" indent="-742950">
              <a:buFont typeface="+mj-lt"/>
              <a:buAutoNum type="arabicPeriod"/>
            </a:pPr>
            <a:r>
              <a:rPr lang="es-ES" sz="4000" dirty="0"/>
              <a:t>El gráfico de convergencia del algoritmo que muestra episodios vs pasos.</a:t>
            </a:r>
          </a:p>
          <a:p>
            <a:pPr marL="742950" indent="-742950">
              <a:buFont typeface="+mj-lt"/>
              <a:buAutoNum type="arabicPeriod"/>
            </a:pPr>
            <a:r>
              <a:rPr lang="es-ES" sz="4000" dirty="0"/>
              <a:t>Diagrama de superficie 3D de la tabla Q.</a:t>
            </a:r>
          </a:p>
          <a:p>
            <a:pPr marL="742950" indent="-742950">
              <a:buFont typeface="+mj-lt"/>
              <a:buAutoNum type="arabicPeriod"/>
            </a:pPr>
            <a:r>
              <a:rPr lang="es-ES" sz="4000" dirty="0"/>
              <a:t>Explique los resultados.</a:t>
            </a:r>
          </a:p>
        </p:txBody>
      </p:sp>
    </p:spTree>
    <p:extLst>
      <p:ext uri="{BB962C8B-B14F-4D97-AF65-F5344CB8AC3E}">
        <p14:creationId xmlns:p14="http://schemas.microsoft.com/office/powerpoint/2010/main" val="1709211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2D11C6-4D1A-D996-E7FA-FAA991EF360B}"/>
              </a:ext>
            </a:extLst>
          </p:cNvPr>
          <p:cNvSpPr>
            <a:spLocks noGrp="1"/>
          </p:cNvSpPr>
          <p:nvPr>
            <p:ph type="title"/>
          </p:nvPr>
        </p:nvSpPr>
        <p:spPr/>
        <p:txBody>
          <a:bodyPr/>
          <a:lstStyle/>
          <a:p>
            <a:endParaRPr lang="es-PE"/>
          </a:p>
        </p:txBody>
      </p:sp>
      <p:pic>
        <p:nvPicPr>
          <p:cNvPr id="7" name="Marcador de contenido 6">
            <a:extLst>
              <a:ext uri="{FF2B5EF4-FFF2-40B4-BE49-F238E27FC236}">
                <a16:creationId xmlns:a16="http://schemas.microsoft.com/office/drawing/2014/main" id="{C432D8CA-A65F-A94E-6BAE-543E11BB9170}"/>
              </a:ext>
            </a:extLst>
          </p:cNvPr>
          <p:cNvPicPr>
            <a:picLocks noGrp="1" noChangeAspect="1"/>
          </p:cNvPicPr>
          <p:nvPr>
            <p:ph idx="1"/>
          </p:nvPr>
        </p:nvPicPr>
        <p:blipFill>
          <a:blip r:embed="rId2"/>
          <a:stretch>
            <a:fillRect/>
          </a:stretch>
        </p:blipFill>
        <p:spPr>
          <a:xfrm>
            <a:off x="1803790" y="3781389"/>
            <a:ext cx="3259277" cy="2538331"/>
          </a:xfrm>
          <a:prstGeom prst="rect">
            <a:avLst/>
          </a:prstGeom>
        </p:spPr>
      </p:pic>
      <p:pic>
        <p:nvPicPr>
          <p:cNvPr id="5" name="Imagen 4">
            <a:extLst>
              <a:ext uri="{FF2B5EF4-FFF2-40B4-BE49-F238E27FC236}">
                <a16:creationId xmlns:a16="http://schemas.microsoft.com/office/drawing/2014/main" id="{33470A7F-49B6-B55B-661D-14C167F9A4A1}"/>
              </a:ext>
            </a:extLst>
          </p:cNvPr>
          <p:cNvPicPr>
            <a:picLocks noChangeAspect="1"/>
          </p:cNvPicPr>
          <p:nvPr/>
        </p:nvPicPr>
        <p:blipFill>
          <a:blip r:embed="rId3"/>
          <a:stretch>
            <a:fillRect/>
          </a:stretch>
        </p:blipFill>
        <p:spPr>
          <a:xfrm>
            <a:off x="763652" y="87430"/>
            <a:ext cx="4528016" cy="3997591"/>
          </a:xfrm>
          <a:prstGeom prst="rect">
            <a:avLst/>
          </a:prstGeom>
        </p:spPr>
      </p:pic>
      <p:sp>
        <p:nvSpPr>
          <p:cNvPr id="9" name="CuadroTexto 8">
            <a:extLst>
              <a:ext uri="{FF2B5EF4-FFF2-40B4-BE49-F238E27FC236}">
                <a16:creationId xmlns:a16="http://schemas.microsoft.com/office/drawing/2014/main" id="{496D4B53-DC2E-2819-D2E2-17885C37C34E}"/>
              </a:ext>
            </a:extLst>
          </p:cNvPr>
          <p:cNvSpPr txBox="1"/>
          <p:nvPr/>
        </p:nvSpPr>
        <p:spPr>
          <a:xfrm>
            <a:off x="5672667" y="1879305"/>
            <a:ext cx="6096000" cy="2862322"/>
          </a:xfrm>
          <a:prstGeom prst="rect">
            <a:avLst/>
          </a:prstGeom>
          <a:noFill/>
        </p:spPr>
        <p:txBody>
          <a:bodyPr wrap="square">
            <a:spAutoFit/>
          </a:bodyPr>
          <a:lstStyle/>
          <a:p>
            <a:r>
              <a:rPr lang="es-ES" dirty="0"/>
              <a:t>Manteniendo el épsilon inicial en 0.01, se incrementó gamma de 0.5 a 1.0 para otorgar mayor importancia a las recompensas futuras. Después de una etapa inicial inestable, el algoritmo convergió desde aproximadamente el episodio 175 hacia una política estable de 280–290 pasos. En el episodio final alcanzó la meta en 286 pasos. Frente a la configuración anterior, que se estabilizó alrededor de 300 pasos, se observa una mejora moderada. La tabla Q presenta preferencias claras por determinadas acciones en cada estado, aunque algunos estados permanecieron sin visitar.</a:t>
            </a:r>
          </a:p>
        </p:txBody>
      </p:sp>
    </p:spTree>
    <p:extLst>
      <p:ext uri="{BB962C8B-B14F-4D97-AF65-F5344CB8AC3E}">
        <p14:creationId xmlns:p14="http://schemas.microsoft.com/office/powerpoint/2010/main" val="442859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72CB5C-7B2E-B92D-06C6-70D1826D8F31}"/>
              </a:ext>
            </a:extLst>
          </p:cNvPr>
          <p:cNvSpPr>
            <a:spLocks noGrp="1"/>
          </p:cNvSpPr>
          <p:nvPr>
            <p:ph type="title"/>
          </p:nvPr>
        </p:nvSpPr>
        <p:spPr/>
        <p:txBody>
          <a:bodyPr/>
          <a:lstStyle/>
          <a:p>
            <a:r>
              <a:rPr lang="es-ES" dirty="0"/>
              <a:t>Cual configuración tiene mejor resultado? Porque?</a:t>
            </a:r>
            <a:endParaRPr lang="es-PE" dirty="0"/>
          </a:p>
        </p:txBody>
      </p:sp>
      <p:sp>
        <p:nvSpPr>
          <p:cNvPr id="3" name="Marcador de contenido 2">
            <a:extLst>
              <a:ext uri="{FF2B5EF4-FFF2-40B4-BE49-F238E27FC236}">
                <a16:creationId xmlns:a16="http://schemas.microsoft.com/office/drawing/2014/main" id="{F4E50114-2177-AF68-5413-2DEE39909C57}"/>
              </a:ext>
            </a:extLst>
          </p:cNvPr>
          <p:cNvSpPr>
            <a:spLocks noGrp="1"/>
          </p:cNvSpPr>
          <p:nvPr>
            <p:ph idx="1"/>
          </p:nvPr>
        </p:nvSpPr>
        <p:spPr>
          <a:xfrm>
            <a:off x="3179786" y="1027906"/>
            <a:ext cx="6226681" cy="984552"/>
          </a:xfrm>
        </p:spPr>
        <p:txBody>
          <a:bodyPr>
            <a:normAutofit/>
          </a:bodyPr>
          <a:lstStyle/>
          <a:p>
            <a:r>
              <a:rPr lang="es-PE" sz="1600" dirty="0"/>
              <a:t>Voy a lanzarme un código que evalúe todos los parámetros</a:t>
            </a:r>
          </a:p>
          <a:p>
            <a:endParaRPr lang="es-PE" dirty="0"/>
          </a:p>
        </p:txBody>
      </p:sp>
      <p:pic>
        <p:nvPicPr>
          <p:cNvPr id="5" name="Imagen 4">
            <a:extLst>
              <a:ext uri="{FF2B5EF4-FFF2-40B4-BE49-F238E27FC236}">
                <a16:creationId xmlns:a16="http://schemas.microsoft.com/office/drawing/2014/main" id="{862B930A-71CB-8527-3D50-2DBB369F92B3}"/>
              </a:ext>
            </a:extLst>
          </p:cNvPr>
          <p:cNvPicPr>
            <a:picLocks noChangeAspect="1"/>
          </p:cNvPicPr>
          <p:nvPr/>
        </p:nvPicPr>
        <p:blipFill>
          <a:blip r:embed="rId2"/>
          <a:stretch>
            <a:fillRect/>
          </a:stretch>
        </p:blipFill>
        <p:spPr>
          <a:xfrm>
            <a:off x="599661" y="2810177"/>
            <a:ext cx="3960214" cy="3501723"/>
          </a:xfrm>
          <a:prstGeom prst="rect">
            <a:avLst/>
          </a:prstGeom>
        </p:spPr>
      </p:pic>
      <p:pic>
        <p:nvPicPr>
          <p:cNvPr id="7" name="Imagen 6">
            <a:extLst>
              <a:ext uri="{FF2B5EF4-FFF2-40B4-BE49-F238E27FC236}">
                <a16:creationId xmlns:a16="http://schemas.microsoft.com/office/drawing/2014/main" id="{ED14DB45-6782-D941-970A-CD126AFE60E2}"/>
              </a:ext>
            </a:extLst>
          </p:cNvPr>
          <p:cNvPicPr>
            <a:picLocks noChangeAspect="1"/>
          </p:cNvPicPr>
          <p:nvPr/>
        </p:nvPicPr>
        <p:blipFill>
          <a:blip r:embed="rId3"/>
          <a:stretch>
            <a:fillRect/>
          </a:stretch>
        </p:blipFill>
        <p:spPr>
          <a:xfrm>
            <a:off x="7086600" y="1378128"/>
            <a:ext cx="4078390" cy="3781890"/>
          </a:xfrm>
          <a:prstGeom prst="rect">
            <a:avLst/>
          </a:prstGeom>
        </p:spPr>
      </p:pic>
      <p:sp>
        <p:nvSpPr>
          <p:cNvPr id="8" name="CuadroTexto 7">
            <a:extLst>
              <a:ext uri="{FF2B5EF4-FFF2-40B4-BE49-F238E27FC236}">
                <a16:creationId xmlns:a16="http://schemas.microsoft.com/office/drawing/2014/main" id="{27FB0B1E-0207-2169-1761-B04A3989653E}"/>
              </a:ext>
            </a:extLst>
          </p:cNvPr>
          <p:cNvSpPr txBox="1"/>
          <p:nvPr/>
        </p:nvSpPr>
        <p:spPr>
          <a:xfrm>
            <a:off x="258050" y="1520182"/>
            <a:ext cx="6828550" cy="1200329"/>
          </a:xfrm>
          <a:prstGeom prst="rect">
            <a:avLst/>
          </a:prstGeom>
          <a:noFill/>
        </p:spPr>
        <p:txBody>
          <a:bodyPr wrap="square" rtlCol="0">
            <a:spAutoFit/>
          </a:bodyPr>
          <a:lstStyle/>
          <a:p>
            <a:r>
              <a:rPr lang="es-ES" dirty="0"/>
              <a:t>El gráfico de </a:t>
            </a:r>
            <a:r>
              <a:rPr lang="es-ES" b="1" dirty="0"/>
              <a:t>convergencia promedio</a:t>
            </a:r>
            <a:r>
              <a:rPr lang="es-ES" dirty="0"/>
              <a:t> evidencia que gamma tiene el mayor efecto sobre el aprendizaje: cuando gamma aumenta de 0.5 a 1, el número de pasos disminuye considerablemente. Asimismo, reducir alfa de 0.5 a 0.1 mejora la estabilidad de la convergencia.</a:t>
            </a:r>
          </a:p>
        </p:txBody>
      </p:sp>
      <p:sp>
        <p:nvSpPr>
          <p:cNvPr id="9" name="CuadroTexto 8">
            <a:extLst>
              <a:ext uri="{FF2B5EF4-FFF2-40B4-BE49-F238E27FC236}">
                <a16:creationId xmlns:a16="http://schemas.microsoft.com/office/drawing/2014/main" id="{2B949E8D-18A3-7CBD-80A6-C5A28E94AFBF}"/>
              </a:ext>
            </a:extLst>
          </p:cNvPr>
          <p:cNvSpPr txBox="1"/>
          <p:nvPr/>
        </p:nvSpPr>
        <p:spPr>
          <a:xfrm>
            <a:off x="4656667" y="5215467"/>
            <a:ext cx="6620933" cy="1200329"/>
          </a:xfrm>
          <a:prstGeom prst="rect">
            <a:avLst/>
          </a:prstGeom>
          <a:noFill/>
        </p:spPr>
        <p:txBody>
          <a:bodyPr wrap="square" rtlCol="0">
            <a:spAutoFit/>
          </a:bodyPr>
          <a:lstStyle/>
          <a:p>
            <a:r>
              <a:rPr lang="es-ES" dirty="0"/>
              <a:t>El </a:t>
            </a:r>
            <a:r>
              <a:rPr lang="es-ES" b="1" dirty="0"/>
              <a:t>promedio móvil </a:t>
            </a:r>
            <a:r>
              <a:rPr lang="es-ES" dirty="0"/>
              <a:t>confirma que la configuración α=0.1,γ=1 no obtiene únicamente episodios aislados favorables, sino que mantiene una tendencia estable alrededor de 200 pasos. Su convergencia se produce aproximadamente desde el episodio 170.</a:t>
            </a:r>
          </a:p>
        </p:txBody>
      </p:sp>
    </p:spTree>
    <p:extLst>
      <p:ext uri="{BB962C8B-B14F-4D97-AF65-F5344CB8AC3E}">
        <p14:creationId xmlns:p14="http://schemas.microsoft.com/office/powerpoint/2010/main" val="1655477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D014-C63E-104C-15EC-2E16794CA2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5D2BBD-5A4A-810F-0F53-EF44DEF4A31E}"/>
              </a:ext>
            </a:extLst>
          </p:cNvPr>
          <p:cNvSpPr>
            <a:spLocks noGrp="1"/>
          </p:cNvSpPr>
          <p:nvPr>
            <p:ph type="title"/>
          </p:nvPr>
        </p:nvSpPr>
        <p:spPr/>
        <p:txBody>
          <a:bodyPr/>
          <a:lstStyle/>
          <a:p>
            <a:r>
              <a:rPr lang="es-ES" dirty="0"/>
              <a:t>Cual configuración tiene mejor resultado? Porque?</a:t>
            </a:r>
            <a:endParaRPr lang="es-PE" dirty="0"/>
          </a:p>
        </p:txBody>
      </p:sp>
      <p:sp>
        <p:nvSpPr>
          <p:cNvPr id="3" name="Marcador de contenido 2">
            <a:extLst>
              <a:ext uri="{FF2B5EF4-FFF2-40B4-BE49-F238E27FC236}">
                <a16:creationId xmlns:a16="http://schemas.microsoft.com/office/drawing/2014/main" id="{327E4A93-0706-07C6-49CE-2224FC679010}"/>
              </a:ext>
            </a:extLst>
          </p:cNvPr>
          <p:cNvSpPr>
            <a:spLocks noGrp="1"/>
          </p:cNvSpPr>
          <p:nvPr>
            <p:ph idx="1"/>
          </p:nvPr>
        </p:nvSpPr>
        <p:spPr>
          <a:xfrm>
            <a:off x="838200" y="1825625"/>
            <a:ext cx="5317067" cy="307975"/>
          </a:xfrm>
        </p:spPr>
        <p:txBody>
          <a:bodyPr>
            <a:normAutofit fontScale="55000" lnSpcReduction="20000"/>
          </a:bodyPr>
          <a:lstStyle/>
          <a:p>
            <a:r>
              <a:rPr lang="es-PE" dirty="0"/>
              <a:t>Voy a lanzarme un código que evalúe todos los parámetros</a:t>
            </a:r>
          </a:p>
          <a:p>
            <a:endParaRPr lang="es-PE" dirty="0"/>
          </a:p>
        </p:txBody>
      </p:sp>
      <p:pic>
        <p:nvPicPr>
          <p:cNvPr id="6" name="Imagen 5">
            <a:extLst>
              <a:ext uri="{FF2B5EF4-FFF2-40B4-BE49-F238E27FC236}">
                <a16:creationId xmlns:a16="http://schemas.microsoft.com/office/drawing/2014/main" id="{6BB73D66-82A5-F5C7-8BA1-FF7C16F6C2B5}"/>
              </a:ext>
            </a:extLst>
          </p:cNvPr>
          <p:cNvPicPr>
            <a:picLocks noChangeAspect="1"/>
          </p:cNvPicPr>
          <p:nvPr/>
        </p:nvPicPr>
        <p:blipFill>
          <a:blip r:embed="rId2"/>
          <a:stretch>
            <a:fillRect/>
          </a:stretch>
        </p:blipFill>
        <p:spPr>
          <a:xfrm>
            <a:off x="486425" y="2106941"/>
            <a:ext cx="3818739" cy="3012747"/>
          </a:xfrm>
          <a:prstGeom prst="rect">
            <a:avLst/>
          </a:prstGeom>
        </p:spPr>
      </p:pic>
      <p:pic>
        <p:nvPicPr>
          <p:cNvPr id="9" name="Imagen 8">
            <a:extLst>
              <a:ext uri="{FF2B5EF4-FFF2-40B4-BE49-F238E27FC236}">
                <a16:creationId xmlns:a16="http://schemas.microsoft.com/office/drawing/2014/main" id="{46088703-BD39-D26C-E86D-697A22C4EC10}"/>
              </a:ext>
            </a:extLst>
          </p:cNvPr>
          <p:cNvPicPr>
            <a:picLocks noChangeAspect="1"/>
          </p:cNvPicPr>
          <p:nvPr/>
        </p:nvPicPr>
        <p:blipFill>
          <a:blip r:embed="rId3"/>
          <a:stretch>
            <a:fillRect/>
          </a:stretch>
        </p:blipFill>
        <p:spPr>
          <a:xfrm>
            <a:off x="6941942" y="1525386"/>
            <a:ext cx="4293325" cy="3196626"/>
          </a:xfrm>
          <a:prstGeom prst="rect">
            <a:avLst/>
          </a:prstGeom>
        </p:spPr>
      </p:pic>
      <p:sp>
        <p:nvSpPr>
          <p:cNvPr id="10" name="CuadroTexto 9">
            <a:extLst>
              <a:ext uri="{FF2B5EF4-FFF2-40B4-BE49-F238E27FC236}">
                <a16:creationId xmlns:a16="http://schemas.microsoft.com/office/drawing/2014/main" id="{A13C6B37-2F2E-54ED-1A24-90645D184F70}"/>
              </a:ext>
            </a:extLst>
          </p:cNvPr>
          <p:cNvSpPr txBox="1"/>
          <p:nvPr/>
        </p:nvSpPr>
        <p:spPr>
          <a:xfrm>
            <a:off x="1016000" y="5249333"/>
            <a:ext cx="5461000" cy="1477328"/>
          </a:xfrm>
          <a:prstGeom prst="rect">
            <a:avLst/>
          </a:prstGeom>
          <a:noFill/>
        </p:spPr>
        <p:txBody>
          <a:bodyPr wrap="square" rtlCol="0">
            <a:spAutoFit/>
          </a:bodyPr>
          <a:lstStyle/>
          <a:p>
            <a:r>
              <a:rPr lang="es-ES" dirty="0"/>
              <a:t>La evaluación sin exploración confirma que α=0.1,γ=1 es la mejor configuración, debido a que alcanza la meta con el menor promedio de pasos y mantiene una variabilidad reducida. Esto demuestra que su desempeño no depende de acciones aleatorias.</a:t>
            </a:r>
          </a:p>
        </p:txBody>
      </p:sp>
    </p:spTree>
    <p:extLst>
      <p:ext uri="{BB962C8B-B14F-4D97-AF65-F5344CB8AC3E}">
        <p14:creationId xmlns:p14="http://schemas.microsoft.com/office/powerpoint/2010/main" val="3690689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6A5358DD-A526-4A2E-A6F6-A3EFD470135D}"/>
              </a:ext>
            </a:extLst>
          </p:cNvPr>
          <p:cNvSpPr>
            <a:spLocks noGrp="1"/>
          </p:cNvSpPr>
          <p:nvPr>
            <p:ph type="title"/>
          </p:nvPr>
        </p:nvSpPr>
        <p:spPr>
          <a:xfrm>
            <a:off x="762000" y="940858"/>
            <a:ext cx="10515600" cy="5375275"/>
          </a:xfrm>
        </p:spPr>
        <p:txBody>
          <a:bodyPr>
            <a:noAutofit/>
          </a:bodyPr>
          <a:lstStyle/>
          <a:p>
            <a:r>
              <a:rPr lang="es-ES" sz="2400" dirty="0"/>
              <a:t>Manteniendo el épsilon inicial en 0.01, se compararon cuatro combinaciones de alfa y gamma. La configuración con α=0.10 y γ=1.00 obtuvo el mejor desempeño: alcanzó una tasa de éxito cercana al 100 %, convergió de forma estable desde aproximadamente el episodio 170 y completó el recorrido en alrededor de 200 pasos. El alfa moderado evitó actualizaciones excesivamente agresivas, mientras que gamma igual a uno permitió valorar plenamente las recompensas futuras. Por tanto, esta configuración produjo la mejor política entre las alternativas evaluadas.</a:t>
            </a:r>
            <a:endParaRPr lang="es-PE" sz="2400" dirty="0"/>
          </a:p>
        </p:txBody>
      </p:sp>
    </p:spTree>
    <p:extLst>
      <p:ext uri="{BB962C8B-B14F-4D97-AF65-F5344CB8AC3E}">
        <p14:creationId xmlns:p14="http://schemas.microsoft.com/office/powerpoint/2010/main" val="2246660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0F0E4C-B601-42CE-A41E-687F2D06FB73}"/>
              </a:ext>
            </a:extLst>
          </p:cNvPr>
          <p:cNvSpPr>
            <a:spLocks noGrp="1"/>
          </p:cNvSpPr>
          <p:nvPr>
            <p:ph type="title"/>
          </p:nvPr>
        </p:nvSpPr>
        <p:spPr>
          <a:xfrm>
            <a:off x="838200" y="365125"/>
            <a:ext cx="10515600" cy="1685348"/>
          </a:xfrm>
        </p:spPr>
        <p:txBody>
          <a:bodyPr>
            <a:normAutofit fontScale="90000"/>
          </a:bodyPr>
          <a:lstStyle/>
          <a:p>
            <a:r>
              <a:rPr lang="es-MX" b="1" dirty="0"/>
              <a:t>Al modelo ganador, cambie el algoritmo de aprendizaje por  SARSA y muestre sus resultados.</a:t>
            </a:r>
            <a:endParaRPr lang="es-PE" b="1" dirty="0"/>
          </a:p>
        </p:txBody>
      </p:sp>
      <p:sp>
        <p:nvSpPr>
          <p:cNvPr id="3" name="Marcador de contenido 2">
            <a:extLst>
              <a:ext uri="{FF2B5EF4-FFF2-40B4-BE49-F238E27FC236}">
                <a16:creationId xmlns:a16="http://schemas.microsoft.com/office/drawing/2014/main" id="{7712B834-19CE-408A-AF98-B52BA405331D}"/>
              </a:ext>
            </a:extLst>
          </p:cNvPr>
          <p:cNvSpPr>
            <a:spLocks noGrp="1"/>
          </p:cNvSpPr>
          <p:nvPr>
            <p:ph idx="1"/>
          </p:nvPr>
        </p:nvSpPr>
        <p:spPr>
          <a:xfrm>
            <a:off x="838200" y="2410691"/>
            <a:ext cx="3992217" cy="2876926"/>
          </a:xfrm>
        </p:spPr>
        <p:txBody>
          <a:bodyPr/>
          <a:lstStyle/>
          <a:p>
            <a:r>
              <a:rPr lang="es-PE" sz="2000" dirty="0"/>
              <a:t>El modelo ganador para mi me salió con </a:t>
            </a:r>
          </a:p>
          <a:p>
            <a:pPr marL="0" indent="0">
              <a:buNone/>
            </a:pPr>
            <a:r>
              <a:rPr lang="es-ES" sz="2000" dirty="0" err="1"/>
              <a:t>alpha</a:t>
            </a:r>
            <a:r>
              <a:rPr lang="es-ES" sz="2000" dirty="0"/>
              <a:t> = 0.10; gamma = 1.00; </a:t>
            </a:r>
            <a:r>
              <a:rPr lang="es-ES" sz="2000" dirty="0" err="1"/>
              <a:t>epsilon</a:t>
            </a:r>
            <a:r>
              <a:rPr lang="es-ES" sz="2000" dirty="0"/>
              <a:t> = 0.01;</a:t>
            </a:r>
          </a:p>
          <a:p>
            <a:pPr marL="0" indent="0">
              <a:buNone/>
            </a:pPr>
            <a:endParaRPr lang="es-ES" dirty="0"/>
          </a:p>
          <a:p>
            <a:pPr marL="0" indent="0">
              <a:buNone/>
            </a:pPr>
            <a:r>
              <a:rPr lang="es-ES" sz="2000" dirty="0"/>
              <a:t>El algoritmo utilizado por defecto ya era Sarsa </a:t>
            </a:r>
            <a:r>
              <a:rPr lang="es-ES" sz="2000" dirty="0" err="1"/>
              <a:t>xd</a:t>
            </a:r>
            <a:endParaRPr lang="es-PE" sz="2000" dirty="0"/>
          </a:p>
        </p:txBody>
      </p:sp>
      <p:pic>
        <p:nvPicPr>
          <p:cNvPr id="5" name="Imagen 4">
            <a:extLst>
              <a:ext uri="{FF2B5EF4-FFF2-40B4-BE49-F238E27FC236}">
                <a16:creationId xmlns:a16="http://schemas.microsoft.com/office/drawing/2014/main" id="{D1D05625-E15E-046F-F032-B712F8C7A626}"/>
              </a:ext>
            </a:extLst>
          </p:cNvPr>
          <p:cNvPicPr>
            <a:picLocks noChangeAspect="1"/>
          </p:cNvPicPr>
          <p:nvPr/>
        </p:nvPicPr>
        <p:blipFill>
          <a:blip r:embed="rId3"/>
          <a:stretch>
            <a:fillRect/>
          </a:stretch>
        </p:blipFill>
        <p:spPr>
          <a:xfrm>
            <a:off x="4830417" y="2410691"/>
            <a:ext cx="6722533" cy="2995855"/>
          </a:xfrm>
          <a:prstGeom prst="rect">
            <a:avLst/>
          </a:prstGeom>
        </p:spPr>
      </p:pic>
    </p:spTree>
    <p:extLst>
      <p:ext uri="{BB962C8B-B14F-4D97-AF65-F5344CB8AC3E}">
        <p14:creationId xmlns:p14="http://schemas.microsoft.com/office/powerpoint/2010/main" val="14771128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5EF20-1845-1E1A-B659-FC4DF86825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9C0D4A-F9D0-7191-5A13-FE39CE69B627}"/>
              </a:ext>
            </a:extLst>
          </p:cNvPr>
          <p:cNvSpPr>
            <a:spLocks noGrp="1"/>
          </p:cNvSpPr>
          <p:nvPr>
            <p:ph type="title"/>
          </p:nvPr>
        </p:nvSpPr>
        <p:spPr>
          <a:xfrm>
            <a:off x="838200" y="365125"/>
            <a:ext cx="10515600" cy="1685348"/>
          </a:xfrm>
        </p:spPr>
        <p:txBody>
          <a:bodyPr>
            <a:normAutofit fontScale="90000"/>
          </a:bodyPr>
          <a:lstStyle/>
          <a:p>
            <a:r>
              <a:rPr lang="es-MX" b="1" dirty="0"/>
              <a:t>Al modelo ganador, cambie el algoritmo de aprendizaje por  SARSA y muestre sus resultados.</a:t>
            </a:r>
            <a:endParaRPr lang="es-PE" b="1" dirty="0"/>
          </a:p>
        </p:txBody>
      </p:sp>
      <p:sp>
        <p:nvSpPr>
          <p:cNvPr id="3" name="Marcador de contenido 2">
            <a:extLst>
              <a:ext uri="{FF2B5EF4-FFF2-40B4-BE49-F238E27FC236}">
                <a16:creationId xmlns:a16="http://schemas.microsoft.com/office/drawing/2014/main" id="{4A113B08-4F6A-E8C2-7685-99B8A02097A2}"/>
              </a:ext>
            </a:extLst>
          </p:cNvPr>
          <p:cNvSpPr>
            <a:spLocks noGrp="1"/>
          </p:cNvSpPr>
          <p:nvPr>
            <p:ph idx="1"/>
          </p:nvPr>
        </p:nvSpPr>
        <p:spPr>
          <a:xfrm>
            <a:off x="838200" y="2410691"/>
            <a:ext cx="3992217" cy="2876926"/>
          </a:xfrm>
        </p:spPr>
        <p:txBody>
          <a:bodyPr/>
          <a:lstStyle/>
          <a:p>
            <a:r>
              <a:rPr lang="es-PE" sz="2000" dirty="0"/>
              <a:t>El modelo ganador para mi me salió con </a:t>
            </a:r>
          </a:p>
          <a:p>
            <a:pPr marL="0" indent="0">
              <a:buNone/>
            </a:pPr>
            <a:r>
              <a:rPr lang="es-ES" sz="2000" dirty="0" err="1"/>
              <a:t>alpha</a:t>
            </a:r>
            <a:r>
              <a:rPr lang="es-ES" sz="2000" dirty="0"/>
              <a:t> = 0.10; gamma = 1.00; </a:t>
            </a:r>
            <a:r>
              <a:rPr lang="es-ES" sz="2000" dirty="0" err="1"/>
              <a:t>epsilon</a:t>
            </a:r>
            <a:r>
              <a:rPr lang="es-ES" sz="2000" dirty="0"/>
              <a:t> = 0.01;</a:t>
            </a:r>
          </a:p>
          <a:p>
            <a:pPr marL="0" indent="0">
              <a:buNone/>
            </a:pPr>
            <a:endParaRPr lang="es-ES" dirty="0"/>
          </a:p>
          <a:p>
            <a:pPr marL="0" indent="0">
              <a:buNone/>
            </a:pPr>
            <a:r>
              <a:rPr lang="es-ES" sz="2000" dirty="0"/>
              <a:t>Como ya usaba Sarsa voy a correrlo con Q </a:t>
            </a:r>
            <a:r>
              <a:rPr lang="es-ES" sz="2000" dirty="0" err="1"/>
              <a:t>Learning</a:t>
            </a:r>
            <a:r>
              <a:rPr lang="es-ES" sz="2000" dirty="0"/>
              <a:t> </a:t>
            </a:r>
            <a:endParaRPr lang="es-PE" sz="2000" dirty="0"/>
          </a:p>
        </p:txBody>
      </p:sp>
      <p:pic>
        <p:nvPicPr>
          <p:cNvPr id="6" name="Imagen 5">
            <a:extLst>
              <a:ext uri="{FF2B5EF4-FFF2-40B4-BE49-F238E27FC236}">
                <a16:creationId xmlns:a16="http://schemas.microsoft.com/office/drawing/2014/main" id="{1174D925-869C-0565-5E77-5F317B7F557E}"/>
              </a:ext>
            </a:extLst>
          </p:cNvPr>
          <p:cNvPicPr>
            <a:picLocks noChangeAspect="1"/>
          </p:cNvPicPr>
          <p:nvPr/>
        </p:nvPicPr>
        <p:blipFill>
          <a:blip r:embed="rId3"/>
          <a:stretch>
            <a:fillRect/>
          </a:stretch>
        </p:blipFill>
        <p:spPr>
          <a:xfrm>
            <a:off x="4935738" y="2184063"/>
            <a:ext cx="6835636" cy="3330182"/>
          </a:xfrm>
          <a:prstGeom prst="rect">
            <a:avLst/>
          </a:prstGeom>
        </p:spPr>
      </p:pic>
    </p:spTree>
    <p:extLst>
      <p:ext uri="{BB962C8B-B14F-4D97-AF65-F5344CB8AC3E}">
        <p14:creationId xmlns:p14="http://schemas.microsoft.com/office/powerpoint/2010/main" val="1664686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C22B6-72C3-F2B8-305B-597B6C199E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9B8DDA-A431-0329-8729-61E814AF3B19}"/>
              </a:ext>
            </a:extLst>
          </p:cNvPr>
          <p:cNvSpPr>
            <a:spLocks noGrp="1"/>
          </p:cNvSpPr>
          <p:nvPr>
            <p:ph type="title"/>
          </p:nvPr>
        </p:nvSpPr>
        <p:spPr>
          <a:xfrm>
            <a:off x="838200" y="365125"/>
            <a:ext cx="10515600" cy="1685348"/>
          </a:xfrm>
        </p:spPr>
        <p:txBody>
          <a:bodyPr>
            <a:normAutofit fontScale="90000"/>
          </a:bodyPr>
          <a:lstStyle/>
          <a:p>
            <a:r>
              <a:rPr lang="es-MX" b="1" dirty="0"/>
              <a:t>Al modelo ganador, cambie el algoritmo de aprendizaje por  </a:t>
            </a:r>
            <a:r>
              <a:rPr lang="es-MX" b="1" strike="sngStrike" dirty="0"/>
              <a:t>SARSA</a:t>
            </a:r>
            <a:r>
              <a:rPr lang="es-MX" b="1" dirty="0"/>
              <a:t> Q- </a:t>
            </a:r>
            <a:r>
              <a:rPr lang="es-MX" b="1" dirty="0" err="1"/>
              <a:t>Learning</a:t>
            </a:r>
            <a:r>
              <a:rPr lang="es-MX" b="1" dirty="0"/>
              <a:t> y muestre sus resultados.</a:t>
            </a:r>
            <a:endParaRPr lang="es-PE" b="1" dirty="0"/>
          </a:p>
        </p:txBody>
      </p:sp>
      <p:sp>
        <p:nvSpPr>
          <p:cNvPr id="3" name="Marcador de contenido 2">
            <a:extLst>
              <a:ext uri="{FF2B5EF4-FFF2-40B4-BE49-F238E27FC236}">
                <a16:creationId xmlns:a16="http://schemas.microsoft.com/office/drawing/2014/main" id="{7A4A8A30-15EC-FEB5-8DD7-AB7A52EE00E4}"/>
              </a:ext>
            </a:extLst>
          </p:cNvPr>
          <p:cNvSpPr>
            <a:spLocks noGrp="1"/>
          </p:cNvSpPr>
          <p:nvPr>
            <p:ph idx="1"/>
          </p:nvPr>
        </p:nvSpPr>
        <p:spPr>
          <a:xfrm>
            <a:off x="152400" y="2050473"/>
            <a:ext cx="3405809" cy="1018309"/>
          </a:xfrm>
        </p:spPr>
        <p:txBody>
          <a:bodyPr>
            <a:normAutofit fontScale="85000" lnSpcReduction="20000"/>
          </a:bodyPr>
          <a:lstStyle/>
          <a:p>
            <a:r>
              <a:rPr lang="es-PE" sz="2000" dirty="0"/>
              <a:t>El modelo ganador para mi me salió con </a:t>
            </a:r>
          </a:p>
          <a:p>
            <a:pPr marL="0" indent="0">
              <a:buNone/>
            </a:pPr>
            <a:r>
              <a:rPr lang="es-ES" sz="2000" dirty="0" err="1"/>
              <a:t>alpha</a:t>
            </a:r>
            <a:r>
              <a:rPr lang="es-ES" sz="2000" dirty="0"/>
              <a:t> = 0.10; gamma = 1.00; </a:t>
            </a:r>
            <a:r>
              <a:rPr lang="es-ES" sz="2000" dirty="0" err="1"/>
              <a:t>epsilon</a:t>
            </a:r>
            <a:r>
              <a:rPr lang="es-ES" sz="2000" dirty="0"/>
              <a:t> = 0.01;</a:t>
            </a:r>
          </a:p>
          <a:p>
            <a:pPr marL="0" indent="0">
              <a:buNone/>
            </a:pPr>
            <a:endParaRPr lang="es-ES" dirty="0"/>
          </a:p>
        </p:txBody>
      </p:sp>
      <p:pic>
        <p:nvPicPr>
          <p:cNvPr id="5" name="Imagen 4">
            <a:extLst>
              <a:ext uri="{FF2B5EF4-FFF2-40B4-BE49-F238E27FC236}">
                <a16:creationId xmlns:a16="http://schemas.microsoft.com/office/drawing/2014/main" id="{5EDB8DB3-3305-91C0-BE2C-E8549CD189D8}"/>
              </a:ext>
            </a:extLst>
          </p:cNvPr>
          <p:cNvPicPr>
            <a:picLocks noChangeAspect="1"/>
          </p:cNvPicPr>
          <p:nvPr/>
        </p:nvPicPr>
        <p:blipFill>
          <a:blip r:embed="rId3"/>
          <a:stretch>
            <a:fillRect/>
          </a:stretch>
        </p:blipFill>
        <p:spPr>
          <a:xfrm>
            <a:off x="519482" y="3142293"/>
            <a:ext cx="3823918" cy="3350582"/>
          </a:xfrm>
          <a:prstGeom prst="rect">
            <a:avLst/>
          </a:prstGeom>
        </p:spPr>
      </p:pic>
      <p:sp>
        <p:nvSpPr>
          <p:cNvPr id="7" name="CuadroTexto 6">
            <a:extLst>
              <a:ext uri="{FF2B5EF4-FFF2-40B4-BE49-F238E27FC236}">
                <a16:creationId xmlns:a16="http://schemas.microsoft.com/office/drawing/2014/main" id="{906C38B2-78C0-8153-EACB-B2E7022F093F}"/>
              </a:ext>
            </a:extLst>
          </p:cNvPr>
          <p:cNvSpPr txBox="1"/>
          <p:nvPr/>
        </p:nvSpPr>
        <p:spPr>
          <a:xfrm>
            <a:off x="4478868" y="1447076"/>
            <a:ext cx="3515692" cy="3693319"/>
          </a:xfrm>
          <a:prstGeom prst="rect">
            <a:avLst/>
          </a:prstGeom>
          <a:noFill/>
        </p:spPr>
        <p:txBody>
          <a:bodyPr wrap="square" rtlCol="0">
            <a:spAutoFit/>
          </a:bodyPr>
          <a:lstStyle/>
          <a:p>
            <a:r>
              <a:rPr lang="es-ES" dirty="0"/>
              <a:t>Usando Q </a:t>
            </a:r>
            <a:r>
              <a:rPr lang="es-ES" dirty="0" err="1"/>
              <a:t>Learning</a:t>
            </a:r>
            <a:r>
              <a:rPr lang="es-ES" dirty="0"/>
              <a:t> investiga mucho menos las rutas óptimas y llega en 179 pasos</a:t>
            </a:r>
          </a:p>
          <a:p>
            <a:r>
              <a:rPr lang="es-ES" dirty="0"/>
              <a:t>En el episodio 400 alcanzó la meta en 179 pasos. La tabla Q presenta preferencias diferenciadas entre las tres acciones según el estado, reflejando la estrategia de balanceo necesaria para acumular impulso. El épsilon final de 0.00017951 indica que el agente utiliza casi exclusivamente la política aprendida.</a:t>
            </a:r>
          </a:p>
        </p:txBody>
      </p:sp>
      <p:pic>
        <p:nvPicPr>
          <p:cNvPr id="9" name="Imagen 8">
            <a:extLst>
              <a:ext uri="{FF2B5EF4-FFF2-40B4-BE49-F238E27FC236}">
                <a16:creationId xmlns:a16="http://schemas.microsoft.com/office/drawing/2014/main" id="{38B2377D-65EC-0AC2-8746-1993EEF5D283}"/>
              </a:ext>
            </a:extLst>
          </p:cNvPr>
          <p:cNvPicPr>
            <a:picLocks noChangeAspect="1"/>
          </p:cNvPicPr>
          <p:nvPr/>
        </p:nvPicPr>
        <p:blipFill>
          <a:blip r:embed="rId4"/>
          <a:stretch>
            <a:fillRect/>
          </a:stretch>
        </p:blipFill>
        <p:spPr>
          <a:xfrm>
            <a:off x="7994560" y="2879489"/>
            <a:ext cx="3869267" cy="2997811"/>
          </a:xfrm>
          <a:prstGeom prst="rect">
            <a:avLst/>
          </a:prstGeom>
        </p:spPr>
      </p:pic>
    </p:spTree>
    <p:extLst>
      <p:ext uri="{BB962C8B-B14F-4D97-AF65-F5344CB8AC3E}">
        <p14:creationId xmlns:p14="http://schemas.microsoft.com/office/powerpoint/2010/main" val="2220936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BF062-74FA-D8AF-3E5C-00581E6E43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12A325-87B1-0BE4-9261-DA73442DB907}"/>
              </a:ext>
            </a:extLst>
          </p:cNvPr>
          <p:cNvSpPr>
            <a:spLocks noGrp="1"/>
          </p:cNvSpPr>
          <p:nvPr>
            <p:ph type="title"/>
          </p:nvPr>
        </p:nvSpPr>
        <p:spPr>
          <a:xfrm>
            <a:off x="838200" y="365125"/>
            <a:ext cx="10515600" cy="1685348"/>
          </a:xfrm>
        </p:spPr>
        <p:txBody>
          <a:bodyPr>
            <a:normAutofit fontScale="90000"/>
          </a:bodyPr>
          <a:lstStyle/>
          <a:p>
            <a:r>
              <a:rPr lang="es-MX" b="1" dirty="0"/>
              <a:t>Al modelo ganador, cambiar la recompensa por -10 y cambiar la estrella a -1.4</a:t>
            </a:r>
            <a:br>
              <a:rPr lang="es-MX" b="1" dirty="0"/>
            </a:br>
            <a:endParaRPr lang="es-PE" b="1" dirty="0"/>
          </a:p>
        </p:txBody>
      </p:sp>
      <p:sp>
        <p:nvSpPr>
          <p:cNvPr id="3" name="Marcador de contenido 2">
            <a:extLst>
              <a:ext uri="{FF2B5EF4-FFF2-40B4-BE49-F238E27FC236}">
                <a16:creationId xmlns:a16="http://schemas.microsoft.com/office/drawing/2014/main" id="{E39ECC8C-1D16-DA76-A228-256C2DEAF76B}"/>
              </a:ext>
            </a:extLst>
          </p:cNvPr>
          <p:cNvSpPr>
            <a:spLocks noGrp="1"/>
          </p:cNvSpPr>
          <p:nvPr>
            <p:ph idx="1"/>
          </p:nvPr>
        </p:nvSpPr>
        <p:spPr>
          <a:xfrm>
            <a:off x="160866" y="1669473"/>
            <a:ext cx="8195734" cy="1285394"/>
          </a:xfrm>
        </p:spPr>
        <p:txBody>
          <a:bodyPr>
            <a:normAutofit fontScale="85000" lnSpcReduction="20000"/>
          </a:bodyPr>
          <a:lstStyle/>
          <a:p>
            <a:r>
              <a:rPr lang="es-PE" sz="2000" dirty="0"/>
              <a:t>El modelo ganador para mi me salió con </a:t>
            </a:r>
          </a:p>
          <a:p>
            <a:pPr marL="0" indent="0">
              <a:buNone/>
            </a:pPr>
            <a:r>
              <a:rPr lang="es-ES" sz="2000" dirty="0" err="1"/>
              <a:t>alpha</a:t>
            </a:r>
            <a:r>
              <a:rPr lang="es-ES" sz="2000" dirty="0"/>
              <a:t> = 0.10; gamma = 1.00; </a:t>
            </a:r>
            <a:r>
              <a:rPr lang="es-ES" sz="2000" dirty="0" err="1"/>
              <a:t>epsilon</a:t>
            </a:r>
            <a:r>
              <a:rPr lang="es-ES" sz="2000" dirty="0"/>
              <a:t> = 0.01;</a:t>
            </a:r>
          </a:p>
          <a:p>
            <a:pPr marL="0" indent="0">
              <a:buNone/>
            </a:pPr>
            <a:r>
              <a:rPr lang="es-ES" sz="2000" dirty="0"/>
              <a:t>Ahí le cambio a en </a:t>
            </a:r>
            <a:r>
              <a:rPr lang="es-ES" sz="2000" dirty="0" err="1"/>
              <a:t>GetReward.m</a:t>
            </a:r>
            <a:r>
              <a:rPr lang="es-ES" sz="2000" dirty="0"/>
              <a:t>  a recompensa -10</a:t>
            </a:r>
          </a:p>
          <a:p>
            <a:pPr marL="0" indent="0">
              <a:buNone/>
            </a:pPr>
            <a:r>
              <a:rPr lang="es-ES" sz="2000" dirty="0"/>
              <a:t>Pongo la variable </a:t>
            </a:r>
            <a:r>
              <a:rPr lang="es-ES" sz="2000" dirty="0" err="1"/>
              <a:t>goalPosition</a:t>
            </a:r>
            <a:r>
              <a:rPr lang="es-ES" sz="2000" dirty="0"/>
              <a:t> para que choque con eso en el condicional</a:t>
            </a:r>
          </a:p>
          <a:p>
            <a:pPr marL="0" indent="0">
              <a:buNone/>
            </a:pPr>
            <a:endParaRPr lang="es-ES" dirty="0"/>
          </a:p>
        </p:txBody>
      </p:sp>
      <p:sp>
        <p:nvSpPr>
          <p:cNvPr id="11" name="CuadroTexto 10">
            <a:extLst>
              <a:ext uri="{FF2B5EF4-FFF2-40B4-BE49-F238E27FC236}">
                <a16:creationId xmlns:a16="http://schemas.microsoft.com/office/drawing/2014/main" id="{5E6586EB-7D2F-D5AD-C777-CEADD044094F}"/>
              </a:ext>
            </a:extLst>
          </p:cNvPr>
          <p:cNvSpPr txBox="1"/>
          <p:nvPr/>
        </p:nvSpPr>
        <p:spPr>
          <a:xfrm>
            <a:off x="5952067" y="1669473"/>
            <a:ext cx="4885266" cy="646331"/>
          </a:xfrm>
          <a:prstGeom prst="rect">
            <a:avLst/>
          </a:prstGeom>
          <a:noFill/>
        </p:spPr>
        <p:txBody>
          <a:bodyPr wrap="square" rtlCol="0">
            <a:spAutoFit/>
          </a:bodyPr>
          <a:lstStyle/>
          <a:p>
            <a:r>
              <a:rPr lang="es-ES" dirty="0"/>
              <a:t>Y de paso en el </a:t>
            </a:r>
            <a:r>
              <a:rPr lang="es-ES" dirty="0" err="1"/>
              <a:t>MountainCarPlot.m</a:t>
            </a:r>
            <a:r>
              <a:rPr lang="es-ES" dirty="0"/>
              <a:t> se cambia el </a:t>
            </a:r>
            <a:r>
              <a:rPr lang="es-ES" dirty="0" err="1"/>
              <a:t>plot</a:t>
            </a:r>
            <a:r>
              <a:rPr lang="es-ES" dirty="0"/>
              <a:t> de la estrellita</a:t>
            </a:r>
          </a:p>
        </p:txBody>
      </p:sp>
      <p:pic>
        <p:nvPicPr>
          <p:cNvPr id="5" name="Imagen 4">
            <a:extLst>
              <a:ext uri="{FF2B5EF4-FFF2-40B4-BE49-F238E27FC236}">
                <a16:creationId xmlns:a16="http://schemas.microsoft.com/office/drawing/2014/main" id="{9F7DD4B1-3B05-D700-BE02-133E0957D1D4}"/>
              </a:ext>
            </a:extLst>
          </p:cNvPr>
          <p:cNvPicPr>
            <a:picLocks noChangeAspect="1"/>
          </p:cNvPicPr>
          <p:nvPr/>
        </p:nvPicPr>
        <p:blipFill>
          <a:blip r:embed="rId3"/>
          <a:stretch>
            <a:fillRect/>
          </a:stretch>
        </p:blipFill>
        <p:spPr>
          <a:xfrm>
            <a:off x="321733" y="3036392"/>
            <a:ext cx="4739504" cy="3389645"/>
          </a:xfrm>
          <a:prstGeom prst="rect">
            <a:avLst/>
          </a:prstGeom>
        </p:spPr>
      </p:pic>
      <p:pic>
        <p:nvPicPr>
          <p:cNvPr id="8" name="Imagen 7">
            <a:extLst>
              <a:ext uri="{FF2B5EF4-FFF2-40B4-BE49-F238E27FC236}">
                <a16:creationId xmlns:a16="http://schemas.microsoft.com/office/drawing/2014/main" id="{CA0B75DD-AF48-65C4-C0D8-A7436719E24B}"/>
              </a:ext>
            </a:extLst>
          </p:cNvPr>
          <p:cNvPicPr>
            <a:picLocks noChangeAspect="1"/>
          </p:cNvPicPr>
          <p:nvPr/>
        </p:nvPicPr>
        <p:blipFill>
          <a:blip r:embed="rId4"/>
          <a:stretch>
            <a:fillRect/>
          </a:stretch>
        </p:blipFill>
        <p:spPr>
          <a:xfrm>
            <a:off x="6646097" y="2954867"/>
            <a:ext cx="4887585" cy="3561786"/>
          </a:xfrm>
          <a:prstGeom prst="rect">
            <a:avLst/>
          </a:prstGeom>
        </p:spPr>
      </p:pic>
    </p:spTree>
    <p:extLst>
      <p:ext uri="{BB962C8B-B14F-4D97-AF65-F5344CB8AC3E}">
        <p14:creationId xmlns:p14="http://schemas.microsoft.com/office/powerpoint/2010/main" val="3747378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42E98-5214-FA12-73F6-89C6CAE079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81FE44-DB21-D134-25EF-61EB948577BE}"/>
              </a:ext>
            </a:extLst>
          </p:cNvPr>
          <p:cNvSpPr>
            <a:spLocks noGrp="1"/>
          </p:cNvSpPr>
          <p:nvPr>
            <p:ph type="title"/>
          </p:nvPr>
        </p:nvSpPr>
        <p:spPr>
          <a:xfrm>
            <a:off x="838200" y="365125"/>
            <a:ext cx="10515600" cy="1685348"/>
          </a:xfrm>
        </p:spPr>
        <p:txBody>
          <a:bodyPr>
            <a:normAutofit fontScale="90000"/>
          </a:bodyPr>
          <a:lstStyle/>
          <a:p>
            <a:r>
              <a:rPr lang="es-MX" b="1" dirty="0"/>
              <a:t>Al modelo ganador, cambiar la recompensa por -10 y cambiar la estrella a -1.4. Estaré usando Sarsa</a:t>
            </a:r>
            <a:br>
              <a:rPr lang="es-MX" b="1" dirty="0"/>
            </a:br>
            <a:endParaRPr lang="es-PE" b="1" dirty="0"/>
          </a:p>
        </p:txBody>
      </p:sp>
      <p:sp>
        <p:nvSpPr>
          <p:cNvPr id="3" name="Marcador de contenido 2">
            <a:extLst>
              <a:ext uri="{FF2B5EF4-FFF2-40B4-BE49-F238E27FC236}">
                <a16:creationId xmlns:a16="http://schemas.microsoft.com/office/drawing/2014/main" id="{ECCFD668-30B3-3828-4186-1CFB4CAB2925}"/>
              </a:ext>
            </a:extLst>
          </p:cNvPr>
          <p:cNvSpPr>
            <a:spLocks noGrp="1"/>
          </p:cNvSpPr>
          <p:nvPr>
            <p:ph idx="1"/>
          </p:nvPr>
        </p:nvSpPr>
        <p:spPr>
          <a:xfrm>
            <a:off x="160866" y="1669473"/>
            <a:ext cx="8195734" cy="1285394"/>
          </a:xfrm>
        </p:spPr>
        <p:txBody>
          <a:bodyPr>
            <a:normAutofit/>
          </a:bodyPr>
          <a:lstStyle/>
          <a:p>
            <a:r>
              <a:rPr lang="es-PE" sz="2000" dirty="0"/>
              <a:t>El modelo ganador para mi me salió con </a:t>
            </a:r>
          </a:p>
          <a:p>
            <a:pPr marL="0" indent="0">
              <a:buNone/>
            </a:pPr>
            <a:r>
              <a:rPr lang="es-ES" sz="2000" dirty="0" err="1"/>
              <a:t>alpha</a:t>
            </a:r>
            <a:r>
              <a:rPr lang="es-ES" sz="2000" dirty="0"/>
              <a:t> = 0.10; gamma = 1.00; </a:t>
            </a:r>
            <a:r>
              <a:rPr lang="es-ES" sz="2000" dirty="0" err="1"/>
              <a:t>epsilon</a:t>
            </a:r>
            <a:r>
              <a:rPr lang="es-ES" sz="2000" dirty="0"/>
              <a:t> = 0.01;</a:t>
            </a:r>
          </a:p>
          <a:p>
            <a:pPr marL="0" indent="0">
              <a:buNone/>
            </a:pPr>
            <a:r>
              <a:rPr lang="es-ES" sz="2000" dirty="0"/>
              <a:t>Ahora pruebo con </a:t>
            </a:r>
          </a:p>
          <a:p>
            <a:pPr marL="0" indent="0">
              <a:buNone/>
            </a:pPr>
            <a:endParaRPr lang="es-ES" dirty="0"/>
          </a:p>
        </p:txBody>
      </p:sp>
      <p:sp>
        <p:nvSpPr>
          <p:cNvPr id="11" name="CuadroTexto 10">
            <a:extLst>
              <a:ext uri="{FF2B5EF4-FFF2-40B4-BE49-F238E27FC236}">
                <a16:creationId xmlns:a16="http://schemas.microsoft.com/office/drawing/2014/main" id="{E356D3B8-65F3-4939-F16D-8C454CDE33E5}"/>
              </a:ext>
            </a:extLst>
          </p:cNvPr>
          <p:cNvSpPr txBox="1"/>
          <p:nvPr/>
        </p:nvSpPr>
        <p:spPr>
          <a:xfrm>
            <a:off x="4902200" y="1669474"/>
            <a:ext cx="7196667" cy="2308324"/>
          </a:xfrm>
          <a:prstGeom prst="rect">
            <a:avLst/>
          </a:prstGeom>
          <a:noFill/>
        </p:spPr>
        <p:txBody>
          <a:bodyPr wrap="square" rtlCol="0">
            <a:spAutoFit/>
          </a:bodyPr>
          <a:lstStyle/>
          <a:p>
            <a:r>
              <a:rPr lang="es-ES" dirty="0"/>
              <a:t>Al trasladar la meta a la colina izquierda y aumentar la penalización por paso de −1 a −10, el agente aprendió una nueva política que converge aproximadamente desde el episodio 290 y alcanza la meta en alrededor de 105 pasos. Los valores Q son mayormente negativos debido al mayor costo acumulado de cada movimiento. Sin embargo, en los estados cercanos a la meta aparecen valores positivos asociados principalmente con la acción hacia la izquierda, lo cual refleja correctamente la nueva estrategia aprendida.</a:t>
            </a:r>
          </a:p>
        </p:txBody>
      </p:sp>
      <p:pic>
        <p:nvPicPr>
          <p:cNvPr id="6" name="Imagen 5">
            <a:extLst>
              <a:ext uri="{FF2B5EF4-FFF2-40B4-BE49-F238E27FC236}">
                <a16:creationId xmlns:a16="http://schemas.microsoft.com/office/drawing/2014/main" id="{531E8F6D-20CB-A45B-80EF-BA3BADEC021C}"/>
              </a:ext>
            </a:extLst>
          </p:cNvPr>
          <p:cNvPicPr>
            <a:picLocks noChangeAspect="1"/>
          </p:cNvPicPr>
          <p:nvPr/>
        </p:nvPicPr>
        <p:blipFill>
          <a:blip r:embed="rId3"/>
          <a:stretch>
            <a:fillRect/>
          </a:stretch>
        </p:blipFill>
        <p:spPr>
          <a:xfrm>
            <a:off x="838200" y="2861734"/>
            <a:ext cx="3684869" cy="3403117"/>
          </a:xfrm>
          <a:prstGeom prst="rect">
            <a:avLst/>
          </a:prstGeom>
        </p:spPr>
      </p:pic>
      <p:pic>
        <p:nvPicPr>
          <p:cNvPr id="9" name="Imagen 8">
            <a:extLst>
              <a:ext uri="{FF2B5EF4-FFF2-40B4-BE49-F238E27FC236}">
                <a16:creationId xmlns:a16="http://schemas.microsoft.com/office/drawing/2014/main" id="{3574F4B1-F182-8329-8DFB-DAE0F32C9D6E}"/>
              </a:ext>
            </a:extLst>
          </p:cNvPr>
          <p:cNvPicPr>
            <a:picLocks noChangeAspect="1"/>
          </p:cNvPicPr>
          <p:nvPr/>
        </p:nvPicPr>
        <p:blipFill>
          <a:blip r:embed="rId4"/>
          <a:stretch>
            <a:fillRect/>
          </a:stretch>
        </p:blipFill>
        <p:spPr>
          <a:xfrm>
            <a:off x="6354483" y="3673261"/>
            <a:ext cx="3548309" cy="3030530"/>
          </a:xfrm>
          <a:prstGeom prst="rect">
            <a:avLst/>
          </a:prstGeom>
        </p:spPr>
      </p:pic>
    </p:spTree>
    <p:extLst>
      <p:ext uri="{BB962C8B-B14F-4D97-AF65-F5344CB8AC3E}">
        <p14:creationId xmlns:p14="http://schemas.microsoft.com/office/powerpoint/2010/main" val="36859357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1533</TotalTime>
  <Words>1597</Words>
  <Application>Microsoft Office PowerPoint</Application>
  <PresentationFormat>Panorámica</PresentationFormat>
  <Paragraphs>117</Paragraphs>
  <Slides>24</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Calibri Light</vt:lpstr>
      <vt:lpstr>Tema de Office</vt:lpstr>
      <vt:lpstr>Mountain in a car  – Resumen</vt:lpstr>
      <vt:lpstr>  TIC-TOC  </vt:lpstr>
      <vt:lpstr>Parámetros</vt:lpstr>
      <vt:lpstr>Ahora vamos hacer unas pruebas</vt:lpstr>
      <vt:lpstr>Ejecutar el programa siendo épsilon  0.010</vt:lpstr>
      <vt:lpstr>Presentación de PowerPoint</vt:lpstr>
      <vt:lpstr>Ejecutar el programa siendo épsilon  0.0010</vt:lpstr>
      <vt:lpstr>Presentación de PowerPoint</vt:lpstr>
      <vt:lpstr>Ejecutar el programa siendo épsilon  0.10</vt:lpstr>
      <vt:lpstr>Presentación de PowerPoint</vt:lpstr>
      <vt:lpstr>Mejore el programa anterior sin modificar el espilon</vt:lpstr>
      <vt:lpstr>Presentación de PowerPoint</vt:lpstr>
      <vt:lpstr>Ejecutar el programa siendo épsilon a 0.010</vt:lpstr>
      <vt:lpstr>Presentación de PowerPoint</vt:lpstr>
      <vt:lpstr>Mejore el programa anterior sin modificar el espilon</vt:lpstr>
      <vt:lpstr>Presentación de PowerPoint</vt:lpstr>
      <vt:lpstr>Cual configuración tiene mejor resultado? Porque?</vt:lpstr>
      <vt:lpstr>Cual configuración tiene mejor resultado? Porque?</vt:lpstr>
      <vt:lpstr>Manteniendo el épsilon inicial en 0.01, se compararon cuatro combinaciones de alfa y gamma. La configuración con α=0.10 y γ=1.00 obtuvo el mejor desempeño: alcanzó una tasa de éxito cercana al 100 %, convergió de forma estable desde aproximadamente el episodio 170 y completó el recorrido en alrededor de 200 pasos. El alfa moderado evitó actualizaciones excesivamente agresivas, mientras que gamma igual a uno permitió valorar plenamente las recompensas futuras. Por tanto, esta configuración produjo la mejor política entre las alternativas evaluadas.</vt:lpstr>
      <vt:lpstr>Al modelo ganador, cambie el algoritmo de aprendizaje por  SARSA y muestre sus resultados.</vt:lpstr>
      <vt:lpstr>Al modelo ganador, cambie el algoritmo de aprendizaje por  SARSA y muestre sus resultados.</vt:lpstr>
      <vt:lpstr>Al modelo ganador, cambie el algoritmo de aprendizaje por  SARSA Q- Learning y muestre sus resultados.</vt:lpstr>
      <vt:lpstr>Al modelo ganador, cambiar la recompensa por -10 y cambiar la estrella a -1.4 </vt:lpstr>
      <vt:lpstr>Al modelo ganador, cambiar la recompensa por -10 y cambiar la estrella a -1.4. Estaré usando Sarsa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Mountain in a car  – Resumen</dc:title>
  <dc:creator>Alvaro Gustavo Talavera Lopez</dc:creator>
  <cp:lastModifiedBy>Arturo  Alvarez de la Torre Sequeiros</cp:lastModifiedBy>
  <cp:revision>29</cp:revision>
  <dcterms:created xsi:type="dcterms:W3CDTF">2019-09-01T17:24:51Z</dcterms:created>
  <dcterms:modified xsi:type="dcterms:W3CDTF">2026-08-25T01:55:49Z</dcterms:modified>
</cp:coreProperties>
</file>