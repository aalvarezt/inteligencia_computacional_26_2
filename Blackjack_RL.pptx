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8454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669280" cy="5669280"/>
          </a:xfrm>
          <a:prstGeom prst="ellipse">
            <a:avLst/>
          </a:prstGeom>
          <a:solidFill>
            <a:srgbClr val="07281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-2377440" y="3931920"/>
            <a:ext cx="4754880" cy="4754880"/>
          </a:xfrm>
          <a:prstGeom prst="ellipse">
            <a:avLst/>
          </a:prstGeom>
          <a:solidFill>
            <a:srgbClr val="07281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1554480" cy="1554480"/>
          </a:xfrm>
          <a:prstGeom prst="ellipse">
            <a:avLst/>
          </a:prstGeom>
          <a:solidFill>
            <a:srgbClr val="D4AF37">
              <a:alpha val="18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Blackjack: que la máquina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aprenda a jugar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Definiendo estados, acciones y recompensas para converger a la Basic Strategy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457200" cy="54864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proyecto de curso · RL aplicado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¿Puede un agente aprender solo,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jugando mano tras mano?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2316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blackjack, cada partida es un episodio corto: el jugador decide pedir cartas o plantarse, y solo al final sabe si ganó, perdió o empató. No hay ningún manual explícito de reglas óptimas programado — el agente debe descubrir, por prueba y error, qué decisión conviene en cada situación.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348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un agente tabular (Q-learning / SARSA) cuya política aprendida se asemeje a la “basic strategy”: la tabla óptima de decisiones ya conocida y publicada para blackjack.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01000" y="822960"/>
            <a:ext cx="3566160" cy="5120640"/>
          </a:xfrm>
          <a:prstGeom prst="roundRect">
            <a:avLst>
              <a:gd name="adj" fmla="val 3077"/>
            </a:avLst>
          </a:prstGeom>
          <a:solidFill>
            <a:srgbClr val="0B3D2E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 txBox="1"/>
          <p:nvPr/>
        </p:nvSpPr>
        <p:spPr>
          <a:xfrm>
            <a:off x="8778240" y="11430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D4AF37"/>
                </a:solidFill>
              </a:rPr>
              <a:t>♦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2377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~360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3246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posibles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mesa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66760" y="4160520"/>
            <a:ext cx="2834640" cy="1828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 txBox="1"/>
          <p:nvPr/>
        </p:nvSpPr>
        <p:spPr>
          <a:xfrm>
            <a:off x="8001000" y="4389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 pedir o plantarse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· Reinforcement Learning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FORMAL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Blackjack como Proceso de Decisión de Markov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292608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F4EFE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1188720" y="3090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493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(jugador)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0" y="292608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F4EFE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 txBox="1"/>
          <p:nvPr/>
        </p:nvSpPr>
        <p:spPr>
          <a:xfrm>
            <a:off x="8229600" y="3090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3493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(mesa + dealer)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H="1">
            <a:off x="3931920" y="2423160"/>
            <a:ext cx="429768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393192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9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(S) + recompensa (R)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931920" y="4617720"/>
            <a:ext cx="429768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3931920" y="4709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9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(A): hit / stand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52120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mano, el agente observa el estado, decide una acción, y el entorno responde con un nuevo estado y (al terminar la mano) una recompensa. El objetivo es aprender la política π(a|s) que maximiza la recompensa esperada.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9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· Reinforcement Learning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9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DEL MDP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Estados: lo que el agente observa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920240" y="2057400"/>
            <a:ext cx="822960" cy="82296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 txBox="1"/>
          <p:nvPr/>
        </p:nvSpPr>
        <p:spPr>
          <a:xfrm>
            <a:off x="192024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del jugador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la mano: de 4 a 21.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Sumas menores no exigen decisión (nunca te pasas).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5623560" y="2057400"/>
            <a:ext cx="822960" cy="82296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562356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del dealer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carta visible: de 2 a 11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 cuenta como 11).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9326880" y="2057400"/>
            <a:ext cx="822960" cy="82296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932688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¿As usable?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Booleano: si el jugador tiene un As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puede valer 11 sin pasarse de 21.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 txBox="1"/>
          <p:nvPr/>
        </p:nvSpPr>
        <p:spPr>
          <a:xfrm>
            <a:off x="914400" y="4983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× 10 × 2 ≈ 360 estados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4983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espacio compacto, ideal para una tabla Q tradicional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· Reinforcement Learning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DEL MDP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Acciones: las dos decisiones posibles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3566160"/>
          </a:xfrm>
          <a:prstGeom prst="roundRect">
            <a:avLst>
              <a:gd name="adj" fmla="val 3590"/>
            </a:avLst>
          </a:prstGeom>
          <a:solidFill>
            <a:srgbClr val="0B3D2E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2880360" y="2057400"/>
            <a:ext cx="1005840" cy="100584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 txBox="1"/>
          <p:nvPr/>
        </p:nvSpPr>
        <p:spPr>
          <a:xfrm>
            <a:off x="288036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9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carta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4297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recibe una carta adicional al azar. Si la suma supera 21, pierde de inmediato (“se pasa”).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5120640" cy="3566160"/>
          </a:xfrm>
          <a:prstGeom prst="roundRect">
            <a:avLst>
              <a:gd name="adj" fmla="val 3590"/>
            </a:avLst>
          </a:prstGeom>
          <a:solidFill>
            <a:srgbClr val="0B3D2E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458200" y="2057400"/>
            <a:ext cx="1005840" cy="100584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 txBox="1"/>
          <p:nvPr/>
        </p:nvSpPr>
        <p:spPr>
          <a:xfrm>
            <a:off x="845820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2918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9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plantarse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297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conserva su mano actual. Termina su turno y el dealer juega según reglas fijas.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486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simplificada del proyecto: sin double-down ni split (posible extensión futura).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· Reinforcement Learning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DEL MDP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Recompensas: la única señal de aprendizaje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2328" y="173736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4EFE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792328" y="1874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F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792328" y="3154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la mano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49928" y="173736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4EFE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 txBox="1"/>
          <p:nvPr/>
        </p:nvSpPr>
        <p:spPr>
          <a:xfrm>
            <a:off x="4449928" y="1874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8A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4449928" y="3154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Empate (push)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07528" y="173736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4EFE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8107528" y="1874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8C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5600" dirty="0"/>
          </a:p>
        </p:txBody>
      </p:sp>
      <p:sp>
        <p:nvSpPr>
          <p:cNvPr id="12" name="Text 10"/>
          <p:cNvSpPr txBox="1"/>
          <p:nvPr/>
        </p:nvSpPr>
        <p:spPr>
          <a:xfrm>
            <a:off x="8107528" y="3154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la mano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2328" y="43891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recompensa es dispersa (sparse): mientras la mano continúa, el reward es 0. Toda la señal llega al terminar el episodio (mano) — el agente debe propagar ese resultado hacia atrás, hasta las decisiones intermedias de “hit” que la llevaron ahí.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9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· Reinforcement Learning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9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DEL MDP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Transiciones: el azar de la baraja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agente elige “hit”, la siguiente carta se reparte al azar: la transición de estado es estocástica, no determinista. El proyecto asume mazo infinito (con reposición) — el mismo supuesto estándar en la literatura de RL (incluido Sutton &amp; Barto). Esto simplifica el modelo: no es necesario trackear qué cartas ya salieron de la baraja.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5760720" cy="1417320"/>
          </a:xfrm>
          <a:prstGeom prst="roundRect">
            <a:avLst>
              <a:gd name="adj" fmla="val 6452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 txBox="1"/>
          <p:nvPr/>
        </p:nvSpPr>
        <p:spPr>
          <a:xfrm>
            <a:off x="914400" y="4434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para el aprendizaje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8006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no puede memorizar secuencias de cartas: debe aprender una política robusta a la aleatoriedad, basada solo en probabilidades.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-1800000">
            <a:off x="8183880" y="2368472"/>
            <a:ext cx="1371600" cy="1920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 rot="-600000">
            <a:off x="8362930" y="2335888"/>
            <a:ext cx="1371600" cy="1920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 rot="600000">
            <a:off x="8553470" y="2335888"/>
            <a:ext cx="1371600" cy="1920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 rot="1800000">
            <a:off x="8732520" y="2368472"/>
            <a:ext cx="1371600" cy="1920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 txBox="1"/>
          <p:nvPr/>
        </p:nvSpPr>
        <p:spPr>
          <a:xfrm rot="-1800000">
            <a:off x="8183880" y="2368472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16211C"/>
                </a:solidFill>
              </a:rPr>
              <a:t>♠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 rot="-600000">
            <a:off x="8362930" y="2335888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8C3B3B"/>
                </a:solidFill>
              </a:rPr>
              <a:t>♥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 rot="600000">
            <a:off x="8553470" y="2335888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8C3B3B"/>
                </a:solidFill>
              </a:rPr>
              <a:t>♦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 rot="1800000">
            <a:off x="8732520" y="2368472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16211C"/>
                </a:solidFill>
              </a:rPr>
              <a:t>♣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515773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6035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carta: aleatoria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· Reinforcement Learning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PERSPECTIVA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Blackjack vs. Mountain Car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698480" cy="502920"/>
          </a:xfrm>
          <a:prstGeom prst="roundRect">
            <a:avLst>
              <a:gd name="adj" fmla="val 10909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17373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92440" y="1737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698480" cy="868680"/>
          </a:xfrm>
          <a:prstGeom prst="rect">
            <a:avLst/>
          </a:prstGeom>
          <a:solidFill>
            <a:srgbClr val="EDE7D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 txBox="1"/>
          <p:nvPr/>
        </p:nvSpPr>
        <p:spPr>
          <a:xfrm>
            <a:off x="777240" y="22402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estados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2402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 → requiere discretización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224028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Discreto y </a:t>
            </a:r>
            <a:r>
              <a:rPr lang="en-US" sz="1200" dirty="0" err="1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compacto</a:t>
            </a: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(~360 estados)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1089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 recompensa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31089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paso: −1 constante hasta la meta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089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al final del episodio (sparse)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10698480" cy="868680"/>
          </a:xfrm>
          <a:prstGeom prst="rect">
            <a:avLst/>
          </a:prstGeom>
          <a:solidFill>
            <a:srgbClr val="EDE7D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777240" y="39776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39776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Largo, recompensa muy diferida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397764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Corto: pocas decisiones por mano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8463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(γ)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48463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ser 1 para propagar el valor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8463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Episodios cortos, menos sensible a γ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es pedagógicamente más simple de implementar, pero exige aprender bien solo con la señal final del episodio.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· Reinforcement Learning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algoritmos tabulares a comparar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4EFE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1143000" y="1965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377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7889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directamente el valor de la política óptima, sin importar cómo explora durante el entrenamiento.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43000" y="4023360"/>
            <a:ext cx="310896" cy="310896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 txBox="1"/>
          <p:nvPr/>
        </p:nvSpPr>
        <p:spPr>
          <a:xfrm>
            <a:off x="114300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9502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agresivo cerca del límite de pasarse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3000" y="4617720"/>
            <a:ext cx="310896" cy="310896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 txBox="1"/>
          <p:nvPr/>
        </p:nvSpPr>
        <p:spPr>
          <a:xfrm>
            <a:off x="1143000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5445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 a la política óptima teórica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69164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4EFE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 txBox="1"/>
          <p:nvPr/>
        </p:nvSpPr>
        <p:spPr>
          <a:xfrm>
            <a:off x="6720840" y="1965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SARSA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377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7889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el valor de la política que realmente sigue el agente, incluyendo sus acciones exploratorias.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4023360"/>
            <a:ext cx="310896" cy="310896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 txBox="1"/>
          <p:nvPr/>
        </p:nvSpPr>
        <p:spPr>
          <a:xfrm>
            <a:off x="672084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39502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algo más conservadora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4617720"/>
            <a:ext cx="310896" cy="310896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 txBox="1"/>
          <p:nvPr/>
        </p:nvSpPr>
        <p:spPr>
          <a:xfrm>
            <a:off x="6720840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5445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visible en estados límite (ej. sumas altas)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9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· Reinforcement Learning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9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sabemos que aprendió bien?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“basic strategy” es una tabla ya publicada y matemáticamente óptima bajo las reglas estándar de blackjack: indica exactamente qué hacer (hit o stand) para cada combinación de mano del jugador y carta del dealer.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/ SARSA juegan miles de manos simuladas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2" y="3154680"/>
            <a:ext cx="310896" cy="0"/>
          </a:xfrm>
          <a:prstGeom prst="line">
            <a:avLst/>
          </a:prstGeom>
          <a:noFill/>
          <a:ln w="25400">
            <a:solidFill>
              <a:srgbClr val="0B3D2E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4572000" y="283464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45720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política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611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estado, tomar la acción de mayor valor Q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36992" y="3154680"/>
            <a:ext cx="310896" cy="0"/>
          </a:xfrm>
          <a:prstGeom prst="line">
            <a:avLst/>
          </a:prstGeom>
          <a:noFill/>
          <a:ln w="25400">
            <a:solidFill>
              <a:srgbClr val="0B3D2E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8321040" y="283464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832104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611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aprendida vs. tabla de basic strategy publicada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 txBox="1"/>
          <p:nvPr/>
        </p:nvSpPr>
        <p:spPr>
          <a:xfrm>
            <a:off x="914400" y="489204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agente coincide con la basic strategy en la mayoría de estados — especialmente los frecuentes — la demostración es visual, contundente y no requiere justificación teórica adicional.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· Reinforcement Learning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D75BD78-8A03-D01D-6F90-1B9D91583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58" y="257452"/>
            <a:ext cx="11641284" cy="574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684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286000"/>
            <a:ext cx="5669280" cy="5669280"/>
          </a:xfrm>
          <a:prstGeom prst="ellipse">
            <a:avLst/>
          </a:prstGeom>
          <a:solidFill>
            <a:srgbClr val="07281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9875520" y="3291840"/>
            <a:ext cx="1280160" cy="1280160"/>
          </a:xfrm>
          <a:prstGeom prst="ellipse">
            <a:avLst/>
          </a:prstGeom>
          <a:solidFill>
            <a:srgbClr val="D4AF37">
              <a:alpha val="18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teoría a la mesa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7157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entorno de Blackjack en MATLAB o python (siguiendo la estructura del proyecto de Mountain Car)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82296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4015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con Q-learning y SARSA, comparando hiperparámetros (α, γ, ε)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087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la política aprendida y contrastarla con la tabla de basic strategy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84632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7731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resultados: % de coincidencia y casos donde el agente difiere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9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preguntas abiertas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1004</Words>
  <Application>Microsoft Office PowerPoint</Application>
  <PresentationFormat>Panorámica</PresentationFormat>
  <Paragraphs>159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Leo Centeno</cp:lastModifiedBy>
  <cp:revision>2</cp:revision>
  <dcterms:created xsi:type="dcterms:W3CDTF">2026-08-28T03:09:34Z</dcterms:created>
  <dcterms:modified xsi:type="dcterms:W3CDTF">2026-08-28T03:32:55Z</dcterms:modified>
</cp:coreProperties>
</file>